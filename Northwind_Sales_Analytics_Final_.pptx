
<file path=[Content_Types].xml><?xml version="1.0" encoding="utf-8"?>
<Types xmlns="http://schemas.openxmlformats.org/package/2006/content-types">
  <Default Extension="avif" ContentType="image/av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Ex1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0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1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7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9" r:id="rId13"/>
    <p:sldId id="280" r:id="rId14"/>
    <p:sldId id="287" r:id="rId15"/>
    <p:sldId id="286" r:id="rId16"/>
    <p:sldId id="285" r:id="rId17"/>
    <p:sldId id="284" r:id="rId18"/>
    <p:sldId id="283" r:id="rId19"/>
    <p:sldId id="282" r:id="rId20"/>
    <p:sldId id="281" r:id="rId21"/>
    <p:sldId id="268" r:id="rId22"/>
    <p:sldId id="269" r:id="rId23"/>
    <p:sldId id="270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88" r:id="rId32"/>
    <p:sldId id="289" r:id="rId33"/>
    <p:sldId id="290" r:id="rId34"/>
    <p:sldId id="291" r:id="rId35"/>
    <p:sldId id="292" r:id="rId36"/>
    <p:sldId id="293" r:id="rId37"/>
    <p:sldId id="271" r:id="rId38"/>
    <p:sldId id="294" r:id="rId39"/>
    <p:sldId id="295" r:id="rId40"/>
    <p:sldId id="300" r:id="rId41"/>
    <p:sldId id="299" r:id="rId42"/>
    <p:sldId id="298" r:id="rId43"/>
    <p:sldId id="296" r:id="rId44"/>
    <p:sldId id="297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4E173C-5178-4FBF-B5BC-148824D1968C}" v="253" dt="2025-10-16T10:19:47.6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66" d="100"/>
          <a:sy n="66" d="100"/>
        </p:scale>
        <p:origin x="6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ee703c6ddaaebf/Documents/Project%20EDA%20in%20Sq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ee703c6ddaaebf/Documents/Project%20EDA%20in%20Sq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ee703c6ddaaebf/Documents/Project%20EDA%20in%20Sq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ee703c6ddaaebf/Documents/Project%20EDA%20in%20Sq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ee703c6ddaaebf/Documents/Project%20EDA%20in%20Sq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ee703c6ddaaebf/Documents/Project%20EDA%20in%20Sql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ee703c6ddaaebf/Documents/Project%20EDA%20in%20Sql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ee703c6ddaaebf/Documents/Project%20EDA%20in%20Sql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ee703c6ddaaebf/Documents/Project%20EDA%20in%20Sql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ee703c6ddaaebf/Documents/Project%20EDA%20in%20Sql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2ee703c6ddaaebf/Documents/Project%20EDA%20in%20Sql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https://d.docs.live.net/42ee703c6ddaaebf/Documents/Project%20EDA%20in%20Sq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dirty="0"/>
              <a:t>High</a:t>
            </a:r>
            <a:r>
              <a:rPr lang="en-IN" baseline="0" dirty="0"/>
              <a:t> Value Repeat customers</a:t>
            </a:r>
          </a:p>
          <a:p>
            <a:pPr>
              <a:defRPr/>
            </a:pPr>
            <a:endParaRPr lang="en-IN" dirty="0"/>
          </a:p>
        </c:rich>
      </c:tx>
      <c:layout>
        <c:manualLayout>
          <c:xMode val="edge"/>
          <c:yMode val="edge"/>
          <c:x val="6.3793099315109542E-2"/>
          <c:y val="8.66283582400334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'Ans 1'!$J$25</c:f>
              <c:strCache>
                <c:ptCount val="1"/>
                <c:pt idx="0">
                  <c:v>total_spending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'Ans 1'!$I$26:$I$43</c:f>
              <c:strCache>
                <c:ptCount val="18"/>
                <c:pt idx="0">
                  <c:v>QUICK</c:v>
                </c:pt>
                <c:pt idx="1">
                  <c:v>ERNSH</c:v>
                </c:pt>
                <c:pt idx="2">
                  <c:v>SAVEA</c:v>
                </c:pt>
                <c:pt idx="3">
                  <c:v>RATTC</c:v>
                </c:pt>
                <c:pt idx="4">
                  <c:v>HUNGO</c:v>
                </c:pt>
                <c:pt idx="5">
                  <c:v>HANAR</c:v>
                </c:pt>
                <c:pt idx="6">
                  <c:v>KOENE</c:v>
                </c:pt>
                <c:pt idx="7">
                  <c:v>FOLKO</c:v>
                </c:pt>
                <c:pt idx="8">
                  <c:v>MEREP</c:v>
                </c:pt>
                <c:pt idx="9">
                  <c:v>WHITC</c:v>
                </c:pt>
                <c:pt idx="10">
                  <c:v>FRANK</c:v>
                </c:pt>
                <c:pt idx="11">
                  <c:v>QUEEN</c:v>
                </c:pt>
                <c:pt idx="12">
                  <c:v>BERGS</c:v>
                </c:pt>
                <c:pt idx="13">
                  <c:v>SUPRD</c:v>
                </c:pt>
                <c:pt idx="14">
                  <c:v>PICCO</c:v>
                </c:pt>
                <c:pt idx="15">
                  <c:v>HILAA</c:v>
                </c:pt>
                <c:pt idx="16">
                  <c:v>BONAP</c:v>
                </c:pt>
                <c:pt idx="17">
                  <c:v>BOTTM</c:v>
                </c:pt>
              </c:strCache>
            </c:strRef>
          </c:cat>
          <c:val>
            <c:numRef>
              <c:f>'Ans 1'!$J$26:$J$43</c:f>
              <c:numCache>
                <c:formatCode>General</c:formatCode>
                <c:ptCount val="18"/>
                <c:pt idx="0">
                  <c:v>110277.3</c:v>
                </c:pt>
                <c:pt idx="1">
                  <c:v>104874.98</c:v>
                </c:pt>
                <c:pt idx="2">
                  <c:v>104361.95</c:v>
                </c:pt>
                <c:pt idx="3">
                  <c:v>51097.8</c:v>
                </c:pt>
                <c:pt idx="4">
                  <c:v>49979.91</c:v>
                </c:pt>
                <c:pt idx="5">
                  <c:v>32841.370000000003</c:v>
                </c:pt>
                <c:pt idx="6">
                  <c:v>30908.38</c:v>
                </c:pt>
                <c:pt idx="7">
                  <c:v>29567.56</c:v>
                </c:pt>
                <c:pt idx="8">
                  <c:v>28872.19</c:v>
                </c:pt>
                <c:pt idx="9">
                  <c:v>27363.61</c:v>
                </c:pt>
                <c:pt idx="10">
                  <c:v>26656.560000000001</c:v>
                </c:pt>
                <c:pt idx="11">
                  <c:v>25717.5</c:v>
                </c:pt>
                <c:pt idx="12">
                  <c:v>24927.58</c:v>
                </c:pt>
                <c:pt idx="13">
                  <c:v>24088.78</c:v>
                </c:pt>
                <c:pt idx="14">
                  <c:v>23128.86</c:v>
                </c:pt>
                <c:pt idx="15">
                  <c:v>22768.76</c:v>
                </c:pt>
                <c:pt idx="16">
                  <c:v>21963.25</c:v>
                </c:pt>
                <c:pt idx="17">
                  <c:v>20801.599999999999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35-4D3F-A0F3-DDE395E8B6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7995599"/>
        <c:axId val="507996559"/>
      </c:barChart>
      <c:lineChart>
        <c:grouping val="standard"/>
        <c:varyColors val="0"/>
        <c:ser>
          <c:idx val="1"/>
          <c:order val="1"/>
          <c:tx>
            <c:strRef>
              <c:f>'Ans 1'!$K$25</c:f>
              <c:strCache>
                <c:ptCount val="1"/>
                <c:pt idx="0">
                  <c:v>Order_count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</c:spPr>
          <c:marker>
            <c:symbol val="none"/>
          </c:marker>
          <c:cat>
            <c:strRef>
              <c:f>'Ans 1'!$I$26:$I$43</c:f>
              <c:strCache>
                <c:ptCount val="18"/>
                <c:pt idx="0">
                  <c:v>QUICK</c:v>
                </c:pt>
                <c:pt idx="1">
                  <c:v>ERNSH</c:v>
                </c:pt>
                <c:pt idx="2">
                  <c:v>SAVEA</c:v>
                </c:pt>
                <c:pt idx="3">
                  <c:v>RATTC</c:v>
                </c:pt>
                <c:pt idx="4">
                  <c:v>HUNGO</c:v>
                </c:pt>
                <c:pt idx="5">
                  <c:v>HANAR</c:v>
                </c:pt>
                <c:pt idx="6">
                  <c:v>KOENE</c:v>
                </c:pt>
                <c:pt idx="7">
                  <c:v>FOLKO</c:v>
                </c:pt>
                <c:pt idx="8">
                  <c:v>MEREP</c:v>
                </c:pt>
                <c:pt idx="9">
                  <c:v>WHITC</c:v>
                </c:pt>
                <c:pt idx="10">
                  <c:v>FRANK</c:v>
                </c:pt>
                <c:pt idx="11">
                  <c:v>QUEEN</c:v>
                </c:pt>
                <c:pt idx="12">
                  <c:v>BERGS</c:v>
                </c:pt>
                <c:pt idx="13">
                  <c:v>SUPRD</c:v>
                </c:pt>
                <c:pt idx="14">
                  <c:v>PICCO</c:v>
                </c:pt>
                <c:pt idx="15">
                  <c:v>HILAA</c:v>
                </c:pt>
                <c:pt idx="16">
                  <c:v>BONAP</c:v>
                </c:pt>
                <c:pt idx="17">
                  <c:v>BOTTM</c:v>
                </c:pt>
              </c:strCache>
            </c:strRef>
          </c:cat>
          <c:val>
            <c:numRef>
              <c:f>'Ans 1'!$K$26:$K$43</c:f>
              <c:numCache>
                <c:formatCode>General</c:formatCode>
                <c:ptCount val="18"/>
                <c:pt idx="0">
                  <c:v>28</c:v>
                </c:pt>
                <c:pt idx="1">
                  <c:v>30</c:v>
                </c:pt>
                <c:pt idx="2">
                  <c:v>31</c:v>
                </c:pt>
                <c:pt idx="3">
                  <c:v>18</c:v>
                </c:pt>
                <c:pt idx="4">
                  <c:v>19</c:v>
                </c:pt>
                <c:pt idx="5">
                  <c:v>14</c:v>
                </c:pt>
                <c:pt idx="6">
                  <c:v>14</c:v>
                </c:pt>
                <c:pt idx="7">
                  <c:v>19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13</c:v>
                </c:pt>
                <c:pt idx="12">
                  <c:v>18</c:v>
                </c:pt>
                <c:pt idx="13">
                  <c:v>12</c:v>
                </c:pt>
                <c:pt idx="14">
                  <c:v>10</c:v>
                </c:pt>
                <c:pt idx="15">
                  <c:v>18</c:v>
                </c:pt>
                <c:pt idx="16">
                  <c:v>17</c:v>
                </c:pt>
                <c:pt idx="17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635-4D3F-A0F3-DDE395E8B6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4045935"/>
        <c:axId val="884045455"/>
      </c:lineChart>
      <c:catAx>
        <c:axId val="507995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7996559"/>
        <c:crosses val="autoZero"/>
        <c:auto val="1"/>
        <c:lblAlgn val="ctr"/>
        <c:lblOffset val="100"/>
        <c:noMultiLvlLbl val="0"/>
      </c:catAx>
      <c:valAx>
        <c:axId val="507996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7995599"/>
        <c:crosses val="autoZero"/>
        <c:crossBetween val="between"/>
      </c:valAx>
      <c:valAx>
        <c:axId val="884045455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4045935"/>
        <c:crosses val="max"/>
        <c:crossBetween val="between"/>
      </c:valAx>
      <c:catAx>
        <c:axId val="88404593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84045455"/>
        <c:crosses val="autoZero"/>
        <c:auto val="1"/>
        <c:lblAlgn val="ctr"/>
        <c:lblOffset val="100"/>
        <c:noMultiLvlLbl val="0"/>
      </c:catAx>
      <c:spPr>
        <a:solidFill>
          <a:schemeClr val="tx1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EDA in Sql.xlsx]Ans 2!PivotTable2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400"/>
              <a:t>Top</a:t>
            </a:r>
            <a:r>
              <a:rPr lang="en-US" sz="1400" baseline="0"/>
              <a:t> 5 countries by Total Orders </a:t>
            </a:r>
            <a:endParaRPr lang="en-US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'Ans 2'!$N$11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8000"/>
                      <a:lumMod val="114000"/>
                    </a:schemeClr>
                  </a:gs>
                  <a:gs pos="100000">
                    <a:schemeClr val="accent1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5E7F-47CB-8E73-3DF0989123F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8000"/>
                      <a:lumMod val="114000"/>
                    </a:schemeClr>
                  </a:gs>
                  <a:gs pos="100000">
                    <a:schemeClr val="accent2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5E7F-47CB-8E73-3DF0989123F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8000"/>
                      <a:lumMod val="114000"/>
                    </a:schemeClr>
                  </a:gs>
                  <a:gs pos="100000">
                    <a:schemeClr val="accent3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5-5E7F-47CB-8E73-3DF0989123F2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98000"/>
                      <a:lumMod val="114000"/>
                    </a:schemeClr>
                  </a:gs>
                  <a:gs pos="100000">
                    <a:schemeClr val="accent4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7-5E7F-47CB-8E73-3DF0989123F2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tint val="98000"/>
                      <a:lumMod val="114000"/>
                    </a:schemeClr>
                  </a:gs>
                  <a:gs pos="100000">
                    <a:schemeClr val="accent5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9-5E7F-47CB-8E73-3DF0989123F2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tint val="98000"/>
                      <a:lumMod val="114000"/>
                    </a:schemeClr>
                  </a:gs>
                  <a:gs pos="100000">
                    <a:schemeClr val="accent6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B-5E7F-47CB-8E73-3DF0989123F2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tint val="98000"/>
                      <a:lumMod val="114000"/>
                    </a:schemeClr>
                  </a:gs>
                  <a:gs pos="100000">
                    <a:schemeClr val="accent1">
                      <a:lumMod val="60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D-5E7F-47CB-8E73-3DF0989123F2}"/>
              </c:ext>
            </c:extLst>
          </c:dPt>
          <c:dPt>
            <c:idx val="7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tint val="98000"/>
                      <a:lumMod val="114000"/>
                    </a:schemeClr>
                  </a:gs>
                  <a:gs pos="100000">
                    <a:schemeClr val="accent2">
                      <a:lumMod val="60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F-5E7F-47CB-8E73-3DF0989123F2}"/>
              </c:ext>
            </c:extLst>
          </c:dPt>
          <c:dPt>
            <c:idx val="8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tint val="98000"/>
                      <a:lumMod val="114000"/>
                    </a:schemeClr>
                  </a:gs>
                  <a:gs pos="100000">
                    <a:schemeClr val="accent3">
                      <a:lumMod val="60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11-5E7F-47CB-8E73-3DF0989123F2}"/>
              </c:ext>
            </c:extLst>
          </c:dPt>
          <c:dPt>
            <c:idx val="9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tint val="98000"/>
                      <a:lumMod val="114000"/>
                    </a:schemeClr>
                  </a:gs>
                  <a:gs pos="100000">
                    <a:schemeClr val="accent4">
                      <a:lumMod val="60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13-5E7F-47CB-8E73-3DF0989123F2}"/>
              </c:ext>
            </c:extLst>
          </c:dPt>
          <c:dPt>
            <c:idx val="10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tint val="98000"/>
                      <a:lumMod val="114000"/>
                    </a:schemeClr>
                  </a:gs>
                  <a:gs pos="100000">
                    <a:schemeClr val="accent5">
                      <a:lumMod val="60000"/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15-5E7F-47CB-8E73-3DF0989123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'Ans 2'!$M$12:$M$16</c:f>
              <c:strCache>
                <c:ptCount val="5"/>
                <c:pt idx="0">
                  <c:v>USA</c:v>
                </c:pt>
                <c:pt idx="1">
                  <c:v>Germany</c:v>
                </c:pt>
                <c:pt idx="2">
                  <c:v>France</c:v>
                </c:pt>
                <c:pt idx="3">
                  <c:v>UK</c:v>
                </c:pt>
                <c:pt idx="4">
                  <c:v>Austria</c:v>
                </c:pt>
              </c:strCache>
            </c:strRef>
          </c:cat>
          <c:val>
            <c:numRef>
              <c:f>'Ans 2'!$N$12:$N$16</c:f>
              <c:numCache>
                <c:formatCode>General</c:formatCode>
                <c:ptCount val="5"/>
                <c:pt idx="0">
                  <c:v>122</c:v>
                </c:pt>
                <c:pt idx="1">
                  <c:v>122</c:v>
                </c:pt>
                <c:pt idx="2">
                  <c:v>77</c:v>
                </c:pt>
                <c:pt idx="3">
                  <c:v>56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5E7F-47CB-8E73-3DF0989123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EDA in Sql.xlsx]Ans 3!PivotTable3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400" baseline="0"/>
              <a:t>Customer Count by Cluster</a:t>
            </a:r>
            <a:endParaRPr lang="en-IN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'Ans 3'!$O$11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8000"/>
                      <a:lumMod val="114000"/>
                    </a:schemeClr>
                  </a:gs>
                  <a:gs pos="100000">
                    <a:schemeClr val="accent1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D891-45F0-B0C6-0CA214323B5D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8000"/>
                      <a:lumMod val="114000"/>
                    </a:schemeClr>
                  </a:gs>
                  <a:gs pos="100000">
                    <a:schemeClr val="accent2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D891-45F0-B0C6-0CA214323B5D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8000"/>
                      <a:lumMod val="114000"/>
                    </a:schemeClr>
                  </a:gs>
                  <a:gs pos="100000">
                    <a:schemeClr val="accent3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5-D891-45F0-B0C6-0CA214323B5D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98000"/>
                      <a:lumMod val="114000"/>
                    </a:schemeClr>
                  </a:gs>
                  <a:gs pos="100000">
                    <a:schemeClr val="accent4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7-D891-45F0-B0C6-0CA214323B5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'Ans 3'!$N$12:$N$15</c:f>
              <c:strCache>
                <c:ptCount val="4"/>
                <c:pt idx="0">
                  <c:v>Budget Frequent Buyers</c:v>
                </c:pt>
                <c:pt idx="1">
                  <c:v>Low-Value</c:v>
                </c:pt>
                <c:pt idx="2">
                  <c:v>Occasional Big Buyers</c:v>
                </c:pt>
                <c:pt idx="3">
                  <c:v>Premium</c:v>
                </c:pt>
              </c:strCache>
            </c:strRef>
          </c:cat>
          <c:val>
            <c:numRef>
              <c:f>'Ans 3'!$O$12:$O$15</c:f>
              <c:numCache>
                <c:formatCode>General</c:formatCode>
                <c:ptCount val="4"/>
                <c:pt idx="0">
                  <c:v>6</c:v>
                </c:pt>
                <c:pt idx="1">
                  <c:v>78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891-45F0-B0C6-0CA214323B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EDA in Sql.xlsx]Ans 4!PivotTable8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400"/>
              <a:t>Top</a:t>
            </a:r>
            <a:r>
              <a:rPr lang="en-US" sz="1400" baseline="0"/>
              <a:t> 3 categories contribution to Revenue </a:t>
            </a:r>
            <a:endParaRPr lang="en-US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</c:pivotFmts>
    <c:plotArea>
      <c:layout/>
      <c:pieChart>
        <c:varyColors val="1"/>
        <c:ser>
          <c:idx val="0"/>
          <c:order val="0"/>
          <c:tx>
            <c:strRef>
              <c:f>'Ans 4'!$K$21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8000"/>
                      <a:lumMod val="114000"/>
                    </a:schemeClr>
                  </a:gs>
                  <a:gs pos="100000">
                    <a:schemeClr val="accent1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AA76-4111-BEAF-71E3C30F468B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8000"/>
                      <a:lumMod val="114000"/>
                    </a:schemeClr>
                  </a:gs>
                  <a:gs pos="100000">
                    <a:schemeClr val="accent2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AA76-4111-BEAF-71E3C30F468B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8000"/>
                      <a:lumMod val="114000"/>
                    </a:schemeClr>
                  </a:gs>
                  <a:gs pos="100000">
                    <a:schemeClr val="accent3">
                      <a:shade val="90000"/>
                      <a:lumMod val="8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5-AA76-4111-BEAF-71E3C30F46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'Ans 4'!$J$22:$J$24</c:f>
              <c:strCache>
                <c:ptCount val="3"/>
                <c:pt idx="0">
                  <c:v>Beverages</c:v>
                </c:pt>
                <c:pt idx="1">
                  <c:v>Confections</c:v>
                </c:pt>
                <c:pt idx="2">
                  <c:v>Dairy Products</c:v>
                </c:pt>
              </c:strCache>
            </c:strRef>
          </c:cat>
          <c:val>
            <c:numRef>
              <c:f>'Ans 4'!$K$22:$K$24</c:f>
              <c:numCache>
                <c:formatCode>General</c:formatCode>
                <c:ptCount val="3"/>
                <c:pt idx="0">
                  <c:v>21.16</c:v>
                </c:pt>
                <c:pt idx="1">
                  <c:v>13.22</c:v>
                </c:pt>
                <c:pt idx="2">
                  <c:v>18.53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A76-4111-BEAF-71E3C30F468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EDA in Sql.xlsx]Ans 5!PivotTable3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Average Order Frequency by Customer Segment</a:t>
            </a:r>
            <a:endParaRPr lang="en-US" sz="1400"/>
          </a:p>
        </c:rich>
      </c:tx>
      <c:layout>
        <c:manualLayout>
          <c:xMode val="edge"/>
          <c:yMode val="edge"/>
          <c:x val="0.12313527128065486"/>
          <c:y val="2.7333341942259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1578144090873086E-2"/>
          <c:y val="0.29137127287284187"/>
          <c:w val="0.78509782465706224"/>
          <c:h val="0.417606833192003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'Ans 5'!$K$16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'Ans 5'!$J$17:$J$21</c:f>
              <c:strCache>
                <c:ptCount val="4"/>
                <c:pt idx="0">
                  <c:v>Budget Frequent Buyers</c:v>
                </c:pt>
                <c:pt idx="1">
                  <c:v>Low-Value/Inactive</c:v>
                </c:pt>
                <c:pt idx="2">
                  <c:v>Occasional Big Buyers</c:v>
                </c:pt>
                <c:pt idx="3">
                  <c:v>Premium</c:v>
                </c:pt>
              </c:strCache>
            </c:strRef>
          </c:cat>
          <c:val>
            <c:numRef>
              <c:f>'Ans 5'!$K$17:$K$21</c:f>
              <c:numCache>
                <c:formatCode>General</c:formatCode>
                <c:ptCount val="4"/>
                <c:pt idx="0">
                  <c:v>10.4</c:v>
                </c:pt>
                <c:pt idx="1">
                  <c:v>6.72</c:v>
                </c:pt>
                <c:pt idx="2">
                  <c:v>7.57</c:v>
                </c:pt>
                <c:pt idx="3">
                  <c:v>17.100000000000001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94-4270-B40D-6A731B32C9A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019351648"/>
        <c:axId val="1019356928"/>
      </c:barChart>
      <c:catAx>
        <c:axId val="1019351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9356928"/>
        <c:crosses val="autoZero"/>
        <c:auto val="1"/>
        <c:lblAlgn val="ctr"/>
        <c:lblOffset val="100"/>
        <c:noMultiLvlLbl val="0"/>
      </c:catAx>
      <c:valAx>
        <c:axId val="1019356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9351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EDA in Sql.xlsx]Ans 7!PivotTable23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2000"/>
              <a:t>Year-wise Employee Hiring by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1075475754269622E-2"/>
          <c:y val="0.16949837838397933"/>
          <c:w val="0.76355796150481192"/>
          <c:h val="0.64406931501834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'Ans 7'!$H$20:$H$21</c:f>
              <c:strCache>
                <c:ptCount val="1"/>
                <c:pt idx="0">
                  <c:v>1992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'Ans 7'!$G$22:$G$25</c:f>
              <c:strCache>
                <c:ptCount val="4"/>
                <c:pt idx="0">
                  <c:v>Inside Sales Coordinator</c:v>
                </c:pt>
                <c:pt idx="1">
                  <c:v>Sales Manager</c:v>
                </c:pt>
                <c:pt idx="2">
                  <c:v>Sales Representative</c:v>
                </c:pt>
                <c:pt idx="3">
                  <c:v>Vice President, Sales</c:v>
                </c:pt>
              </c:strCache>
            </c:strRef>
          </c:cat>
          <c:val>
            <c:numRef>
              <c:f>'Ans 7'!$H$22:$H$25</c:f>
              <c:numCache>
                <c:formatCode>General</c:formatCode>
                <c:ptCount val="4"/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A0-4145-8A3C-88DB577E1D82}"/>
            </c:ext>
          </c:extLst>
        </c:ser>
        <c:ser>
          <c:idx val="1"/>
          <c:order val="1"/>
          <c:tx>
            <c:strRef>
              <c:f>'Ans 7'!$I$20:$I$21</c:f>
              <c:strCache>
                <c:ptCount val="1"/>
                <c:pt idx="0">
                  <c:v>1993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8000"/>
                    <a:lumMod val="114000"/>
                  </a:schemeClr>
                </a:gs>
                <a:gs pos="100000">
                  <a:schemeClr val="accent2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'Ans 7'!$G$22:$G$25</c:f>
              <c:strCache>
                <c:ptCount val="4"/>
                <c:pt idx="0">
                  <c:v>Inside Sales Coordinator</c:v>
                </c:pt>
                <c:pt idx="1">
                  <c:v>Sales Manager</c:v>
                </c:pt>
                <c:pt idx="2">
                  <c:v>Sales Representative</c:v>
                </c:pt>
                <c:pt idx="3">
                  <c:v>Vice President, Sales</c:v>
                </c:pt>
              </c:strCache>
            </c:strRef>
          </c:cat>
          <c:val>
            <c:numRef>
              <c:f>'Ans 7'!$I$22:$I$25</c:f>
              <c:numCache>
                <c:formatCode>General</c:formatCode>
                <c:ptCount val="4"/>
                <c:pt idx="1">
                  <c:v>1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A0-4145-8A3C-88DB577E1D82}"/>
            </c:ext>
          </c:extLst>
        </c:ser>
        <c:ser>
          <c:idx val="2"/>
          <c:order val="2"/>
          <c:tx>
            <c:strRef>
              <c:f>'Ans 7'!$J$20:$J$21</c:f>
              <c:strCache>
                <c:ptCount val="1"/>
                <c:pt idx="0">
                  <c:v>1994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8000"/>
                    <a:lumMod val="114000"/>
                  </a:schemeClr>
                </a:gs>
                <a:gs pos="100000">
                  <a:schemeClr val="accent3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'Ans 7'!$G$22:$G$25</c:f>
              <c:strCache>
                <c:ptCount val="4"/>
                <c:pt idx="0">
                  <c:v>Inside Sales Coordinator</c:v>
                </c:pt>
                <c:pt idx="1">
                  <c:v>Sales Manager</c:v>
                </c:pt>
                <c:pt idx="2">
                  <c:v>Sales Representative</c:v>
                </c:pt>
                <c:pt idx="3">
                  <c:v>Vice President, Sales</c:v>
                </c:pt>
              </c:strCache>
            </c:strRef>
          </c:cat>
          <c:val>
            <c:numRef>
              <c:f>'Ans 7'!$J$22:$J$25</c:f>
              <c:numCache>
                <c:formatCode>General</c:formatCode>
                <c:ptCount val="4"/>
                <c:pt idx="0">
                  <c:v>1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A0-4145-8A3C-88DB577E1D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360674944"/>
        <c:axId val="1360675904"/>
      </c:barChart>
      <c:catAx>
        <c:axId val="1360674944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0675904"/>
        <c:crosses val="autoZero"/>
        <c:auto val="1"/>
        <c:lblAlgn val="ctr"/>
        <c:lblOffset val="100"/>
        <c:noMultiLvlLbl val="0"/>
      </c:catAx>
      <c:valAx>
        <c:axId val="1360675904"/>
        <c:scaling>
          <c:orientation val="minMax"/>
          <c:max val="5"/>
          <c:min val="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0674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EDA in Sql.xlsx]Ans 8!PivotTable24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2000" b="1" i="0" u="none" strike="noStrike" baseline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Distribution of Courtesy Titles Across Employee Roles</a:t>
            </a:r>
            <a:endParaRPr lang="en-IN" sz="2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'Ans 8'!$I$19:$I$20</c:f>
              <c:strCache>
                <c:ptCount val="1"/>
                <c:pt idx="0">
                  <c:v>Dr.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'Ans 8'!$H$21:$H$24</c:f>
              <c:strCache>
                <c:ptCount val="4"/>
                <c:pt idx="0">
                  <c:v>Inside Sales Coordinator</c:v>
                </c:pt>
                <c:pt idx="1">
                  <c:v>Sales Manager</c:v>
                </c:pt>
                <c:pt idx="2">
                  <c:v>Sales Representative</c:v>
                </c:pt>
                <c:pt idx="3">
                  <c:v>Vice President, Sales</c:v>
                </c:pt>
              </c:strCache>
            </c:strRef>
          </c:cat>
          <c:val>
            <c:numRef>
              <c:f>'Ans 8'!$I$21:$I$24</c:f>
              <c:numCache>
                <c:formatCode>General</c:formatCode>
                <c:ptCount val="4"/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BF-436F-AD32-38D697C5C230}"/>
            </c:ext>
          </c:extLst>
        </c:ser>
        <c:ser>
          <c:idx val="1"/>
          <c:order val="1"/>
          <c:tx>
            <c:strRef>
              <c:f>'Ans 8'!$J$19:$J$20</c:f>
              <c:strCache>
                <c:ptCount val="1"/>
                <c:pt idx="0">
                  <c:v>Mr.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8000"/>
                    <a:lumMod val="114000"/>
                  </a:schemeClr>
                </a:gs>
                <a:gs pos="100000">
                  <a:schemeClr val="accent2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'Ans 8'!$H$21:$H$24</c:f>
              <c:strCache>
                <c:ptCount val="4"/>
                <c:pt idx="0">
                  <c:v>Inside Sales Coordinator</c:v>
                </c:pt>
                <c:pt idx="1">
                  <c:v>Sales Manager</c:v>
                </c:pt>
                <c:pt idx="2">
                  <c:v>Sales Representative</c:v>
                </c:pt>
                <c:pt idx="3">
                  <c:v>Vice President, Sales</c:v>
                </c:pt>
              </c:strCache>
            </c:strRef>
          </c:cat>
          <c:val>
            <c:numRef>
              <c:f>'Ans 8'!$J$21:$J$24</c:f>
              <c:numCache>
                <c:formatCode>General</c:formatCode>
                <c:ptCount val="4"/>
                <c:pt idx="1">
                  <c:v>1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BF-436F-AD32-38D697C5C230}"/>
            </c:ext>
          </c:extLst>
        </c:ser>
        <c:ser>
          <c:idx val="2"/>
          <c:order val="2"/>
          <c:tx>
            <c:strRef>
              <c:f>'Ans 8'!$K$19:$K$20</c:f>
              <c:strCache>
                <c:ptCount val="1"/>
                <c:pt idx="0">
                  <c:v>Mrs.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8000"/>
                    <a:lumMod val="114000"/>
                  </a:schemeClr>
                </a:gs>
                <a:gs pos="100000">
                  <a:schemeClr val="accent3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'Ans 8'!$H$21:$H$24</c:f>
              <c:strCache>
                <c:ptCount val="4"/>
                <c:pt idx="0">
                  <c:v>Inside Sales Coordinator</c:v>
                </c:pt>
                <c:pt idx="1">
                  <c:v>Sales Manager</c:v>
                </c:pt>
                <c:pt idx="2">
                  <c:v>Sales Representative</c:v>
                </c:pt>
                <c:pt idx="3">
                  <c:v>Vice President, Sales</c:v>
                </c:pt>
              </c:strCache>
            </c:strRef>
          </c:cat>
          <c:val>
            <c:numRef>
              <c:f>'Ans 8'!$K$21:$K$24</c:f>
              <c:numCache>
                <c:formatCode>General</c:formatCode>
                <c:ptCount val="4"/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BF-436F-AD32-38D697C5C230}"/>
            </c:ext>
          </c:extLst>
        </c:ser>
        <c:ser>
          <c:idx val="3"/>
          <c:order val="3"/>
          <c:tx>
            <c:strRef>
              <c:f>'Ans 8'!$L$19:$L$20</c:f>
              <c:strCache>
                <c:ptCount val="1"/>
                <c:pt idx="0">
                  <c:v>Ms.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8000"/>
                    <a:lumMod val="114000"/>
                  </a:schemeClr>
                </a:gs>
                <a:gs pos="100000">
                  <a:schemeClr val="accent4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'Ans 8'!$H$21:$H$24</c:f>
              <c:strCache>
                <c:ptCount val="4"/>
                <c:pt idx="0">
                  <c:v>Inside Sales Coordinator</c:v>
                </c:pt>
                <c:pt idx="1">
                  <c:v>Sales Manager</c:v>
                </c:pt>
                <c:pt idx="2">
                  <c:v>Sales Representative</c:v>
                </c:pt>
                <c:pt idx="3">
                  <c:v>Vice President, Sales</c:v>
                </c:pt>
              </c:strCache>
            </c:strRef>
          </c:cat>
          <c:val>
            <c:numRef>
              <c:f>'Ans 8'!$L$21:$L$24</c:f>
              <c:numCache>
                <c:formatCode>General</c:formatCode>
                <c:ptCount val="4"/>
                <c:pt idx="0">
                  <c:v>1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BF-436F-AD32-38D697C5C23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412445520"/>
        <c:axId val="1412446000"/>
      </c:barChart>
      <c:catAx>
        <c:axId val="1412445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2446000"/>
        <c:crosses val="autoZero"/>
        <c:auto val="1"/>
        <c:lblAlgn val="ctr"/>
        <c:lblOffset val="100"/>
        <c:noMultiLvlLbl val="0"/>
      </c:catAx>
      <c:valAx>
        <c:axId val="14124460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2445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600" b="1" i="0" u="none" strike="noStrike" baseline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Product Demand Variation by Month</a:t>
            </a:r>
            <a:endParaRPr lang="en-US"/>
          </a:p>
        </c:rich>
      </c:tx>
      <c:layout>
        <c:manualLayout>
          <c:xMode val="edge"/>
          <c:yMode val="edge"/>
          <c:x val="0.15770745639549349"/>
          <c:y val="1.81276471836487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'Ans 10'!$I$10</c:f>
              <c:strCache>
                <c:ptCount val="1"/>
                <c:pt idx="0">
                  <c:v>TotalUnitsSold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'Ans 10'!$H$11:$H$22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'Ans 10'!$I$11:$I$22</c:f>
              <c:numCache>
                <c:formatCode>General</c:formatCode>
                <c:ptCount val="12"/>
                <c:pt idx="0">
                  <c:v>4882</c:v>
                </c:pt>
                <c:pt idx="1">
                  <c:v>5244</c:v>
                </c:pt>
                <c:pt idx="2">
                  <c:v>5870</c:v>
                </c:pt>
                <c:pt idx="3">
                  <c:v>5687</c:v>
                </c:pt>
                <c:pt idx="4">
                  <c:v>7017</c:v>
                </c:pt>
                <c:pt idx="5">
                  <c:v>2808</c:v>
                </c:pt>
                <c:pt idx="6">
                  <c:v>1635</c:v>
                </c:pt>
                <c:pt idx="7">
                  <c:v>3516</c:v>
                </c:pt>
                <c:pt idx="8">
                  <c:v>3183</c:v>
                </c:pt>
                <c:pt idx="9">
                  <c:v>3467</c:v>
                </c:pt>
                <c:pt idx="10">
                  <c:v>4326</c:v>
                </c:pt>
                <c:pt idx="11">
                  <c:v>3682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F3-4A02-A33B-75891E5DA47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342094656"/>
        <c:axId val="1342097056"/>
      </c:lineChart>
      <c:catAx>
        <c:axId val="13420946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Month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2097056"/>
        <c:crosses val="autoZero"/>
        <c:auto val="1"/>
        <c:lblAlgn val="ctr"/>
        <c:lblOffset val="100"/>
        <c:noMultiLvlLbl val="0"/>
      </c:catAx>
      <c:valAx>
        <c:axId val="1342097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Units Sold </a:t>
                </a:r>
              </a:p>
              <a:p>
                <a:pPr>
                  <a:defRPr/>
                </a:pP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2094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EDA in Sql.xlsx]Ans 12!PivotTable3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Regional Trends in Supplier Distribution and Pricing – Top 10 Cities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'Ans 12'!$Q$21</c:f>
              <c:strCache>
                <c:ptCount val="1"/>
                <c:pt idx="0">
                  <c:v>Total Products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'Ans 12'!$P$22:$P$31</c:f>
              <c:strCache>
                <c:ptCount val="10"/>
                <c:pt idx="0">
                  <c:v>Ann Arbor</c:v>
                </c:pt>
                <c:pt idx="1">
                  <c:v>Annecy</c:v>
                </c:pt>
                <c:pt idx="2">
                  <c:v>Berlin</c:v>
                </c:pt>
                <c:pt idx="3">
                  <c:v>Frankfurt</c:v>
                </c:pt>
                <c:pt idx="4">
                  <c:v>Melbourne</c:v>
                </c:pt>
                <c:pt idx="5">
                  <c:v>Oviedo</c:v>
                </c:pt>
                <c:pt idx="6">
                  <c:v>Paris</c:v>
                </c:pt>
                <c:pt idx="7">
                  <c:v>Ste-Hyacinthe</c:v>
                </c:pt>
                <c:pt idx="8">
                  <c:v>Sydney</c:v>
                </c:pt>
                <c:pt idx="9">
                  <c:v>Tokyo</c:v>
                </c:pt>
              </c:strCache>
            </c:strRef>
          </c:cat>
          <c:val>
            <c:numRef>
              <c:f>'Ans 12'!$Q$22:$Q$31</c:f>
              <c:numCache>
                <c:formatCode>General</c:formatCode>
                <c:ptCount val="10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85-4589-959F-F89CF802DA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79092639"/>
        <c:axId val="979093119"/>
      </c:barChart>
      <c:lineChart>
        <c:grouping val="standard"/>
        <c:varyColors val="0"/>
        <c:ser>
          <c:idx val="1"/>
          <c:order val="1"/>
          <c:tx>
            <c:strRef>
              <c:f>'Ans 12'!$R$21</c:f>
              <c:strCache>
                <c:ptCount val="1"/>
                <c:pt idx="0">
                  <c:v> AvgUnitPrice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tint val="98000"/>
                      <a:lumMod val="114000"/>
                    </a:schemeClr>
                  </a:gs>
                  <a:gs pos="100000">
                    <a:schemeClr val="accent2">
                      <a:shade val="90000"/>
                      <a:lumMod val="84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63500" dist="38100" dir="5400000" rotWithShape="0">
                  <a:srgbClr val="000000">
                    <a:alpha val="6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</c:marker>
          <c:cat>
            <c:strRef>
              <c:f>'Ans 12'!$P$22:$P$31</c:f>
              <c:strCache>
                <c:ptCount val="10"/>
                <c:pt idx="0">
                  <c:v>Ann Arbor</c:v>
                </c:pt>
                <c:pt idx="1">
                  <c:v>Annecy</c:v>
                </c:pt>
                <c:pt idx="2">
                  <c:v>Berlin</c:v>
                </c:pt>
                <c:pt idx="3">
                  <c:v>Frankfurt</c:v>
                </c:pt>
                <c:pt idx="4">
                  <c:v>Melbourne</c:v>
                </c:pt>
                <c:pt idx="5">
                  <c:v>Oviedo</c:v>
                </c:pt>
                <c:pt idx="6">
                  <c:v>Paris</c:v>
                </c:pt>
                <c:pt idx="7">
                  <c:v>Ste-Hyacinthe</c:v>
                </c:pt>
                <c:pt idx="8">
                  <c:v>Sydney</c:v>
                </c:pt>
                <c:pt idx="9">
                  <c:v>Tokyo</c:v>
                </c:pt>
              </c:strCache>
            </c:strRef>
          </c:cat>
          <c:val>
            <c:numRef>
              <c:f>'Ans 12'!$R$22:$R$31</c:f>
              <c:numCache>
                <c:formatCode>General</c:formatCode>
                <c:ptCount val="10"/>
                <c:pt idx="0">
                  <c:v>31.67</c:v>
                </c:pt>
                <c:pt idx="1">
                  <c:v>44.5</c:v>
                </c:pt>
                <c:pt idx="2">
                  <c:v>29.71</c:v>
                </c:pt>
                <c:pt idx="3">
                  <c:v>44.68</c:v>
                </c:pt>
                <c:pt idx="4">
                  <c:v>35.57</c:v>
                </c:pt>
                <c:pt idx="5">
                  <c:v>29.5</c:v>
                </c:pt>
                <c:pt idx="6">
                  <c:v>140.75</c:v>
                </c:pt>
                <c:pt idx="7">
                  <c:v>38.9</c:v>
                </c:pt>
                <c:pt idx="8">
                  <c:v>30.93</c:v>
                </c:pt>
                <c:pt idx="9">
                  <c:v>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85-4589-959F-F89CF802DA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79095039"/>
        <c:axId val="979094559"/>
      </c:lineChart>
      <c:catAx>
        <c:axId val="979092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9093119"/>
        <c:crosses val="autoZero"/>
        <c:auto val="1"/>
        <c:lblAlgn val="ctr"/>
        <c:lblOffset val="100"/>
        <c:noMultiLvlLbl val="0"/>
      </c:catAx>
      <c:valAx>
        <c:axId val="979093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9092639"/>
        <c:crosses val="autoZero"/>
        <c:crossBetween val="between"/>
      </c:valAx>
      <c:valAx>
        <c:axId val="979094559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9095039"/>
        <c:crosses val="max"/>
        <c:crossBetween val="between"/>
      </c:valAx>
      <c:catAx>
        <c:axId val="97909503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7909455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Product and Supplier Distribution by Category</a:t>
            </a:r>
          </a:p>
        </c:rich>
      </c:tx>
      <c:overlay val="0"/>
      <c:spPr>
        <a:solidFill>
          <a:schemeClr val="tx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'Ans 13'!$K$10</c:f>
              <c:strCache>
                <c:ptCount val="1"/>
                <c:pt idx="0">
                  <c:v>product_count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'Ans 13'!$J$11:$J$18</c:f>
              <c:strCache>
                <c:ptCount val="8"/>
                <c:pt idx="0">
                  <c:v>Confections</c:v>
                </c:pt>
                <c:pt idx="1">
                  <c:v>Beverages</c:v>
                </c:pt>
                <c:pt idx="2">
                  <c:v>Condiments</c:v>
                </c:pt>
                <c:pt idx="3">
                  <c:v>Seafood</c:v>
                </c:pt>
                <c:pt idx="4">
                  <c:v>Dairy Products</c:v>
                </c:pt>
                <c:pt idx="5">
                  <c:v>Grains/Cereals</c:v>
                </c:pt>
                <c:pt idx="6">
                  <c:v>Meat/Poultry</c:v>
                </c:pt>
                <c:pt idx="7">
                  <c:v>Produce</c:v>
                </c:pt>
              </c:strCache>
            </c:strRef>
          </c:cat>
          <c:val>
            <c:numRef>
              <c:f>'Ans 13'!$K$11:$K$18</c:f>
              <c:numCache>
                <c:formatCode>General</c:formatCode>
                <c:ptCount val="8"/>
                <c:pt idx="0">
                  <c:v>13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10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02-41B1-9270-B4629B5C7222}"/>
            </c:ext>
          </c:extLst>
        </c:ser>
        <c:ser>
          <c:idx val="1"/>
          <c:order val="1"/>
          <c:tx>
            <c:strRef>
              <c:f>'Ans 13'!$L$10</c:f>
              <c:strCache>
                <c:ptCount val="1"/>
                <c:pt idx="0">
                  <c:v>supplier_count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8000"/>
                    <a:lumMod val="114000"/>
                  </a:schemeClr>
                </a:gs>
                <a:gs pos="100000">
                  <a:schemeClr val="accent2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'Ans 13'!$J$11:$J$18</c:f>
              <c:strCache>
                <c:ptCount val="8"/>
                <c:pt idx="0">
                  <c:v>Confections</c:v>
                </c:pt>
                <c:pt idx="1">
                  <c:v>Beverages</c:v>
                </c:pt>
                <c:pt idx="2">
                  <c:v>Condiments</c:v>
                </c:pt>
                <c:pt idx="3">
                  <c:v>Seafood</c:v>
                </c:pt>
                <c:pt idx="4">
                  <c:v>Dairy Products</c:v>
                </c:pt>
                <c:pt idx="5">
                  <c:v>Grains/Cereals</c:v>
                </c:pt>
                <c:pt idx="6">
                  <c:v>Meat/Poultry</c:v>
                </c:pt>
                <c:pt idx="7">
                  <c:v>Produce</c:v>
                </c:pt>
              </c:strCache>
            </c:strRef>
          </c:cat>
          <c:val>
            <c:numRef>
              <c:f>'Ans 13'!$L$11:$L$18</c:f>
              <c:numCache>
                <c:formatCode>General</c:formatCode>
                <c:ptCount val="8"/>
                <c:pt idx="0">
                  <c:v>6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4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02-41B1-9270-B4629B5C722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70849183"/>
        <c:axId val="1170849663"/>
      </c:barChart>
      <c:catAx>
        <c:axId val="1170849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0849663"/>
        <c:crosses val="autoZero"/>
        <c:auto val="1"/>
        <c:lblAlgn val="ctr"/>
        <c:lblOffset val="100"/>
        <c:noMultiLvlLbl val="0"/>
      </c:catAx>
      <c:valAx>
        <c:axId val="1170849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0849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EDA in Sql.xlsx]Ans 14!PivotTable1</c:name>
    <c:fmtId val="3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800" b="1" i="0" u="none" strike="noStrike" baseline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Avg Supplier Pricing by Category – Top 10 Cities</a:t>
            </a:r>
            <a:endParaRPr lang="en-IN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'Ans 14'!$P$22:$P$23</c:f>
              <c:strCache>
                <c:ptCount val="1"/>
                <c:pt idx="0">
                  <c:v>Beverages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lumMod val="114000"/>
                  </a:schemeClr>
                </a:gs>
                <a:gs pos="100000">
                  <a:schemeClr val="accent1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'Ans 14'!$O$24:$O$33</c:f>
              <c:strCache>
                <c:ptCount val="10"/>
                <c:pt idx="0">
                  <c:v>Ann Arbor</c:v>
                </c:pt>
                <c:pt idx="1">
                  <c:v>Annecy</c:v>
                </c:pt>
                <c:pt idx="2">
                  <c:v>Frankfurt</c:v>
                </c:pt>
                <c:pt idx="3">
                  <c:v>Melbourne</c:v>
                </c:pt>
                <c:pt idx="4">
                  <c:v>Osaka</c:v>
                </c:pt>
                <c:pt idx="5">
                  <c:v>Paris</c:v>
                </c:pt>
                <c:pt idx="6">
                  <c:v>Singapore</c:v>
                </c:pt>
                <c:pt idx="7">
                  <c:v>Ste-Hyacinthe</c:v>
                </c:pt>
                <c:pt idx="8">
                  <c:v>Sydney</c:v>
                </c:pt>
                <c:pt idx="9">
                  <c:v>Tokyo</c:v>
                </c:pt>
              </c:strCache>
            </c:strRef>
          </c:cat>
          <c:val>
            <c:numRef>
              <c:f>'Ans 14'!$P$24:$P$33</c:f>
              <c:numCache>
                <c:formatCode>General</c:formatCode>
                <c:ptCount val="10"/>
                <c:pt idx="2">
                  <c:v>7.75</c:v>
                </c:pt>
                <c:pt idx="3">
                  <c:v>15</c:v>
                </c:pt>
                <c:pt idx="5">
                  <c:v>140.75</c:v>
                </c:pt>
                <c:pt idx="6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CA-43DD-A7EC-6213E776CAFB}"/>
            </c:ext>
          </c:extLst>
        </c:ser>
        <c:ser>
          <c:idx val="1"/>
          <c:order val="1"/>
          <c:tx>
            <c:strRef>
              <c:f>'Ans 14'!$Q$22:$Q$23</c:f>
              <c:strCache>
                <c:ptCount val="1"/>
                <c:pt idx="0">
                  <c:v>Condiments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8000"/>
                    <a:lumMod val="114000"/>
                  </a:schemeClr>
                </a:gs>
                <a:gs pos="100000">
                  <a:schemeClr val="accent2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'Ans 14'!$O$24:$O$33</c:f>
              <c:strCache>
                <c:ptCount val="10"/>
                <c:pt idx="0">
                  <c:v>Ann Arbor</c:v>
                </c:pt>
                <c:pt idx="1">
                  <c:v>Annecy</c:v>
                </c:pt>
                <c:pt idx="2">
                  <c:v>Frankfurt</c:v>
                </c:pt>
                <c:pt idx="3">
                  <c:v>Melbourne</c:v>
                </c:pt>
                <c:pt idx="4">
                  <c:v>Osaka</c:v>
                </c:pt>
                <c:pt idx="5">
                  <c:v>Paris</c:v>
                </c:pt>
                <c:pt idx="6">
                  <c:v>Singapore</c:v>
                </c:pt>
                <c:pt idx="7">
                  <c:v>Ste-Hyacinthe</c:v>
                </c:pt>
                <c:pt idx="8">
                  <c:v>Sydney</c:v>
                </c:pt>
                <c:pt idx="9">
                  <c:v>Tokyo</c:v>
                </c:pt>
              </c:strCache>
            </c:strRef>
          </c:cat>
          <c:val>
            <c:numRef>
              <c:f>'Ans 14'!$Q$24:$Q$33</c:f>
              <c:numCache>
                <c:formatCode>General</c:formatCode>
                <c:ptCount val="10"/>
                <c:pt idx="0">
                  <c:v>32.5</c:v>
                </c:pt>
                <c:pt idx="2">
                  <c:v>13</c:v>
                </c:pt>
                <c:pt idx="3">
                  <c:v>43.9</c:v>
                </c:pt>
                <c:pt idx="4">
                  <c:v>15.5</c:v>
                </c:pt>
                <c:pt idx="6">
                  <c:v>19.45</c:v>
                </c:pt>
                <c:pt idx="7">
                  <c:v>28.5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CA-43DD-A7EC-6213E776CAFB}"/>
            </c:ext>
          </c:extLst>
        </c:ser>
        <c:ser>
          <c:idx val="2"/>
          <c:order val="2"/>
          <c:tx>
            <c:strRef>
              <c:f>'Ans 14'!$R$22:$R$23</c:f>
              <c:strCache>
                <c:ptCount val="1"/>
                <c:pt idx="0">
                  <c:v>Confections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8000"/>
                    <a:lumMod val="114000"/>
                  </a:schemeClr>
                </a:gs>
                <a:gs pos="100000">
                  <a:schemeClr val="accent3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'Ans 14'!$O$24:$O$33</c:f>
              <c:strCache>
                <c:ptCount val="10"/>
                <c:pt idx="0">
                  <c:v>Ann Arbor</c:v>
                </c:pt>
                <c:pt idx="1">
                  <c:v>Annecy</c:v>
                </c:pt>
                <c:pt idx="2">
                  <c:v>Frankfurt</c:v>
                </c:pt>
                <c:pt idx="3">
                  <c:v>Melbourne</c:v>
                </c:pt>
                <c:pt idx="4">
                  <c:v>Osaka</c:v>
                </c:pt>
                <c:pt idx="5">
                  <c:v>Paris</c:v>
                </c:pt>
                <c:pt idx="6">
                  <c:v>Singapore</c:v>
                </c:pt>
                <c:pt idx="7">
                  <c:v>Ste-Hyacinthe</c:v>
                </c:pt>
                <c:pt idx="8">
                  <c:v>Sydney</c:v>
                </c:pt>
                <c:pt idx="9">
                  <c:v>Tokyo</c:v>
                </c:pt>
              </c:strCache>
            </c:strRef>
          </c:cat>
          <c:val>
            <c:numRef>
              <c:f>'Ans 14'!$R$24:$R$33</c:f>
              <c:numCache>
                <c:formatCode>General</c:formatCode>
                <c:ptCount val="10"/>
                <c:pt idx="3">
                  <c:v>17.45</c:v>
                </c:pt>
                <c:pt idx="7">
                  <c:v>49.3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CA-43DD-A7EC-6213E776CAFB}"/>
            </c:ext>
          </c:extLst>
        </c:ser>
        <c:ser>
          <c:idx val="3"/>
          <c:order val="3"/>
          <c:tx>
            <c:strRef>
              <c:f>'Ans 14'!$S$22:$S$23</c:f>
              <c:strCache>
                <c:ptCount val="1"/>
                <c:pt idx="0">
                  <c:v>Dairy Products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8000"/>
                    <a:lumMod val="114000"/>
                  </a:schemeClr>
                </a:gs>
                <a:gs pos="100000">
                  <a:schemeClr val="accent4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'Ans 14'!$O$24:$O$33</c:f>
              <c:strCache>
                <c:ptCount val="10"/>
                <c:pt idx="0">
                  <c:v>Ann Arbor</c:v>
                </c:pt>
                <c:pt idx="1">
                  <c:v>Annecy</c:v>
                </c:pt>
                <c:pt idx="2">
                  <c:v>Frankfurt</c:v>
                </c:pt>
                <c:pt idx="3">
                  <c:v>Melbourne</c:v>
                </c:pt>
                <c:pt idx="4">
                  <c:v>Osaka</c:v>
                </c:pt>
                <c:pt idx="5">
                  <c:v>Paris</c:v>
                </c:pt>
                <c:pt idx="6">
                  <c:v>Singapore</c:v>
                </c:pt>
                <c:pt idx="7">
                  <c:v>Ste-Hyacinthe</c:v>
                </c:pt>
                <c:pt idx="8">
                  <c:v>Sydney</c:v>
                </c:pt>
                <c:pt idx="9">
                  <c:v>Tokyo</c:v>
                </c:pt>
              </c:strCache>
            </c:strRef>
          </c:cat>
          <c:val>
            <c:numRef>
              <c:f>'Ans 14'!$S$24:$S$33</c:f>
              <c:numCache>
                <c:formatCode>General</c:formatCode>
                <c:ptCount val="10"/>
                <c:pt idx="1">
                  <c:v>44.5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7CA-43DD-A7EC-6213E776CAFB}"/>
            </c:ext>
          </c:extLst>
        </c:ser>
        <c:ser>
          <c:idx val="4"/>
          <c:order val="4"/>
          <c:tx>
            <c:strRef>
              <c:f>'Ans 14'!$T$22:$T$23</c:f>
              <c:strCache>
                <c:ptCount val="1"/>
                <c:pt idx="0">
                  <c:v>Grains/Cereals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98000"/>
                    <a:lumMod val="114000"/>
                  </a:schemeClr>
                </a:gs>
                <a:gs pos="100000">
                  <a:schemeClr val="accent5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'Ans 14'!$O$24:$O$33</c:f>
              <c:strCache>
                <c:ptCount val="10"/>
                <c:pt idx="0">
                  <c:v>Ann Arbor</c:v>
                </c:pt>
                <c:pt idx="1">
                  <c:v>Annecy</c:v>
                </c:pt>
                <c:pt idx="2">
                  <c:v>Frankfurt</c:v>
                </c:pt>
                <c:pt idx="3">
                  <c:v>Melbourne</c:v>
                </c:pt>
                <c:pt idx="4">
                  <c:v>Osaka</c:v>
                </c:pt>
                <c:pt idx="5">
                  <c:v>Paris</c:v>
                </c:pt>
                <c:pt idx="6">
                  <c:v>Singapore</c:v>
                </c:pt>
                <c:pt idx="7">
                  <c:v>Ste-Hyacinthe</c:v>
                </c:pt>
                <c:pt idx="8">
                  <c:v>Sydney</c:v>
                </c:pt>
                <c:pt idx="9">
                  <c:v>Tokyo</c:v>
                </c:pt>
              </c:strCache>
            </c:strRef>
          </c:cat>
          <c:val>
            <c:numRef>
              <c:f>'Ans 14'!$T$24:$T$33</c:f>
              <c:numCache>
                <c:formatCode>General</c:formatCode>
                <c:ptCount val="10"/>
                <c:pt idx="2">
                  <c:v>33.25</c:v>
                </c:pt>
                <c:pt idx="6">
                  <c:v>14</c:v>
                </c:pt>
                <c:pt idx="8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7CA-43DD-A7EC-6213E776CAFB}"/>
            </c:ext>
          </c:extLst>
        </c:ser>
        <c:ser>
          <c:idx val="5"/>
          <c:order val="5"/>
          <c:tx>
            <c:strRef>
              <c:f>'Ans 14'!$U$22:$U$23</c:f>
              <c:strCache>
                <c:ptCount val="1"/>
                <c:pt idx="0">
                  <c:v>Meat/Poultry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98000"/>
                    <a:lumMod val="114000"/>
                  </a:schemeClr>
                </a:gs>
                <a:gs pos="100000">
                  <a:schemeClr val="accent6"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1"/>
          <c:cat>
            <c:strRef>
              <c:f>'Ans 14'!$O$24:$O$33</c:f>
              <c:strCache>
                <c:ptCount val="10"/>
                <c:pt idx="0">
                  <c:v>Ann Arbor</c:v>
                </c:pt>
                <c:pt idx="1">
                  <c:v>Annecy</c:v>
                </c:pt>
                <c:pt idx="2">
                  <c:v>Frankfurt</c:v>
                </c:pt>
                <c:pt idx="3">
                  <c:v>Melbourne</c:v>
                </c:pt>
                <c:pt idx="4">
                  <c:v>Osaka</c:v>
                </c:pt>
                <c:pt idx="5">
                  <c:v>Paris</c:v>
                </c:pt>
                <c:pt idx="6">
                  <c:v>Singapore</c:v>
                </c:pt>
                <c:pt idx="7">
                  <c:v>Ste-Hyacinthe</c:v>
                </c:pt>
                <c:pt idx="8">
                  <c:v>Sydney</c:v>
                </c:pt>
                <c:pt idx="9">
                  <c:v>Tokyo</c:v>
                </c:pt>
              </c:strCache>
            </c:strRef>
          </c:cat>
          <c:val>
            <c:numRef>
              <c:f>'Ans 14'!$U$24:$U$33</c:f>
              <c:numCache>
                <c:formatCode>General</c:formatCode>
                <c:ptCount val="10"/>
                <c:pt idx="2">
                  <c:v>123.79</c:v>
                </c:pt>
                <c:pt idx="3">
                  <c:v>39</c:v>
                </c:pt>
                <c:pt idx="8">
                  <c:v>32.799999999999997</c:v>
                </c:pt>
                <c:pt idx="9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7CA-43DD-A7EC-6213E776CAFB}"/>
            </c:ext>
          </c:extLst>
        </c:ser>
        <c:ser>
          <c:idx val="6"/>
          <c:order val="6"/>
          <c:tx>
            <c:strRef>
              <c:f>'Ans 14'!$V$22:$V$23</c:f>
              <c:strCache>
                <c:ptCount val="1"/>
                <c:pt idx="0">
                  <c:v>Produce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tint val="98000"/>
                    <a:lumMod val="114000"/>
                  </a:schemeClr>
                </a:gs>
                <a:gs pos="100000">
                  <a:schemeClr val="accent1">
                    <a:lumMod val="60000"/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'Ans 14'!$O$24:$O$33</c:f>
              <c:strCache>
                <c:ptCount val="10"/>
                <c:pt idx="0">
                  <c:v>Ann Arbor</c:v>
                </c:pt>
                <c:pt idx="1">
                  <c:v>Annecy</c:v>
                </c:pt>
                <c:pt idx="2">
                  <c:v>Frankfurt</c:v>
                </c:pt>
                <c:pt idx="3">
                  <c:v>Melbourne</c:v>
                </c:pt>
                <c:pt idx="4">
                  <c:v>Osaka</c:v>
                </c:pt>
                <c:pt idx="5">
                  <c:v>Paris</c:v>
                </c:pt>
                <c:pt idx="6">
                  <c:v>Singapore</c:v>
                </c:pt>
                <c:pt idx="7">
                  <c:v>Ste-Hyacinthe</c:v>
                </c:pt>
                <c:pt idx="8">
                  <c:v>Sydney</c:v>
                </c:pt>
                <c:pt idx="9">
                  <c:v>Tokyo</c:v>
                </c:pt>
              </c:strCache>
            </c:strRef>
          </c:cat>
          <c:val>
            <c:numRef>
              <c:f>'Ans 14'!$V$24:$V$33</c:f>
              <c:numCache>
                <c:formatCode>General</c:formatCode>
                <c:ptCount val="10"/>
                <c:pt idx="0">
                  <c:v>30</c:v>
                </c:pt>
                <c:pt idx="2">
                  <c:v>45.6</c:v>
                </c:pt>
                <c:pt idx="4">
                  <c:v>23.25</c:v>
                </c:pt>
                <c:pt idx="8">
                  <c:v>53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7CA-43DD-A7EC-6213E776CAFB}"/>
            </c:ext>
          </c:extLst>
        </c:ser>
        <c:ser>
          <c:idx val="7"/>
          <c:order val="7"/>
          <c:tx>
            <c:strRef>
              <c:f>'Ans 14'!$W$22:$W$23</c:f>
              <c:strCache>
                <c:ptCount val="1"/>
                <c:pt idx="0">
                  <c:v>Seafood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tint val="98000"/>
                    <a:lumMod val="114000"/>
                  </a:schemeClr>
                </a:gs>
                <a:gs pos="100000">
                  <a:schemeClr val="accent2">
                    <a:lumMod val="60000"/>
                    <a:shade val="90000"/>
                    <a:lumMod val="8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63500" dist="38100" dir="5400000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'Ans 14'!$O$24:$O$33</c:f>
              <c:strCache>
                <c:ptCount val="10"/>
                <c:pt idx="0">
                  <c:v>Ann Arbor</c:v>
                </c:pt>
                <c:pt idx="1">
                  <c:v>Annecy</c:v>
                </c:pt>
                <c:pt idx="2">
                  <c:v>Frankfurt</c:v>
                </c:pt>
                <c:pt idx="3">
                  <c:v>Melbourne</c:v>
                </c:pt>
                <c:pt idx="4">
                  <c:v>Osaka</c:v>
                </c:pt>
                <c:pt idx="5">
                  <c:v>Paris</c:v>
                </c:pt>
                <c:pt idx="6">
                  <c:v>Singapore</c:v>
                </c:pt>
                <c:pt idx="7">
                  <c:v>Ste-Hyacinthe</c:v>
                </c:pt>
                <c:pt idx="8">
                  <c:v>Sydney</c:v>
                </c:pt>
                <c:pt idx="9">
                  <c:v>Tokyo</c:v>
                </c:pt>
              </c:strCache>
            </c:strRef>
          </c:cat>
          <c:val>
            <c:numRef>
              <c:f>'Ans 14'!$W$24:$W$33</c:f>
              <c:numCache>
                <c:formatCode>General</c:formatCode>
                <c:ptCount val="10"/>
                <c:pt idx="3">
                  <c:v>62.5</c:v>
                </c:pt>
                <c:pt idx="4">
                  <c:v>6</c:v>
                </c:pt>
                <c:pt idx="9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7CA-43DD-A7EC-6213E776CA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30872047"/>
        <c:axId val="1330874447"/>
      </c:barChart>
      <c:catAx>
        <c:axId val="1330872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0874447"/>
        <c:crosses val="autoZero"/>
        <c:auto val="1"/>
        <c:lblAlgn val="ctr"/>
        <c:lblOffset val="100"/>
        <c:noMultiLvlLbl val="0"/>
      </c:catAx>
      <c:valAx>
        <c:axId val="1330874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08720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>
        <a:lumMod val="95000"/>
        <a:lumOff val="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'[Project EDA in Sql.xlsx]Ans 6'!$H$12:$I$18</cx:f>
        <cx:lvl ptCount="7">
          <cx:pt idx="0">Sales Manager</cx:pt>
          <cx:pt idx="1">Sales Representative</cx:pt>
          <cx:pt idx="2">Sales Representative</cx:pt>
          <cx:pt idx="3">Sales Representative</cx:pt>
          <cx:pt idx="4">Inside Sales Coordinator</cx:pt>
          <cx:pt idx="5">Sales Representative</cx:pt>
          <cx:pt idx="6">Vice President, Sales</cx:pt>
        </cx:lvl>
        <cx:lvl ptCount="7">
          <cx:pt idx="0">London</cx:pt>
          <cx:pt idx="1">London</cx:pt>
          <cx:pt idx="2">Kirkland</cx:pt>
          <cx:pt idx="3">Redmond</cx:pt>
          <cx:pt idx="4">Seattle</cx:pt>
          <cx:pt idx="5">Seattle</cx:pt>
          <cx:pt idx="6">Tacoma</cx:pt>
        </cx:lvl>
      </cx:strDim>
      <cx:numDim type="size">
        <cx:f>'[Project EDA in Sql.xlsx]Ans 6'!$J$12:$J$18</cx:f>
        <cx:lvl ptCount="7" formatCode="General">
          <cx:pt idx="0">1</cx:pt>
          <cx:pt idx="1">3</cx:pt>
          <cx:pt idx="2">1</cx:pt>
          <cx:pt idx="3">1</cx:pt>
          <cx:pt idx="4">1</cx:pt>
          <cx:pt idx="5">1</cx:pt>
          <cx:pt idx="6">1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IN"/>
              <a:t>Geographic and title-wise distribution of employees</a:t>
            </a:r>
            <a:endPara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endParaRPr>
          </a:p>
        </cx:rich>
      </cx:tx>
    </cx:title>
    <cx:plotArea>
      <cx:plotAreaRegion>
        <cx:series layoutId="treemap" uniqueId="{C5999E53-6F47-46E3-9B70-7B7C53EA10F4}">
          <cx:tx>
            <cx:txData>
              <cx:f>'[Project EDA in Sql.xlsx]Ans 6'!$J$11</cx:f>
              <cx:v>TotalEmployees</cx:v>
            </cx:txData>
          </cx:tx>
          <cx:dataLabels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D0EA55-27E1-4189-BF18-CF6B967FEA4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506C7EB-96A4-4A7E-BC14-C98FD23F0DF9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sz="2000" b="1" dirty="0"/>
            <a:t>Connecting via CSV / Excel</a:t>
          </a:r>
          <a:endParaRPr lang="en-US" sz="2000" dirty="0"/>
        </a:p>
      </dgm:t>
    </dgm:pt>
    <dgm:pt modelId="{E23E51E5-8ADE-42AC-A760-9B06A7773C88}" type="parTrans" cxnId="{92F4B786-78D1-407A-A527-77F5CBB066C5}">
      <dgm:prSet/>
      <dgm:spPr/>
      <dgm:t>
        <a:bodyPr/>
        <a:lstStyle/>
        <a:p>
          <a:endParaRPr lang="en-US"/>
        </a:p>
      </dgm:t>
    </dgm:pt>
    <dgm:pt modelId="{1EBEF814-A2A6-40C2-AE0D-51407AF69CBB}" type="sibTrans" cxnId="{92F4B786-78D1-407A-A527-77F5CBB066C5}">
      <dgm:prSet/>
      <dgm:spPr/>
      <dgm:t>
        <a:bodyPr/>
        <a:lstStyle/>
        <a:p>
          <a:endParaRPr lang="en-US"/>
        </a:p>
      </dgm:t>
    </dgm:pt>
    <dgm:pt modelId="{C2F4A3D0-BB22-401A-AFF3-66BEFDDE9FBA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sz="2000" dirty="0"/>
            <a:t>Open </a:t>
          </a:r>
          <a:r>
            <a:rPr lang="en-IN" sz="2000" b="1" dirty="0"/>
            <a:t>Power BI Desktop</a:t>
          </a:r>
          <a:r>
            <a:rPr lang="en-IN" sz="2000" dirty="0"/>
            <a:t> → Click </a:t>
          </a:r>
          <a:r>
            <a:rPr lang="en-IN" sz="2000" b="1" dirty="0"/>
            <a:t>Get Data → Text/CSV</a:t>
          </a:r>
          <a:r>
            <a:rPr lang="en-IN" sz="2000" dirty="0"/>
            <a:t> (or Excel).</a:t>
          </a:r>
          <a:endParaRPr lang="en-US" sz="2000" dirty="0"/>
        </a:p>
      </dgm:t>
    </dgm:pt>
    <dgm:pt modelId="{8095E98F-72FA-4C27-85C1-C588B6D2BB05}" type="parTrans" cxnId="{033B14C3-E4AD-441B-A1A2-612F8C1199F9}">
      <dgm:prSet/>
      <dgm:spPr/>
      <dgm:t>
        <a:bodyPr/>
        <a:lstStyle/>
        <a:p>
          <a:endParaRPr lang="en-US"/>
        </a:p>
      </dgm:t>
    </dgm:pt>
    <dgm:pt modelId="{D6286593-43C9-470F-A35B-F09F141D6B24}" type="sibTrans" cxnId="{033B14C3-E4AD-441B-A1A2-612F8C1199F9}">
      <dgm:prSet/>
      <dgm:spPr/>
      <dgm:t>
        <a:bodyPr/>
        <a:lstStyle/>
        <a:p>
          <a:endParaRPr lang="en-US"/>
        </a:p>
      </dgm:t>
    </dgm:pt>
    <dgm:pt modelId="{E7272488-0C97-4952-BF78-9B2EFE2DEA61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sz="2000" dirty="0"/>
            <a:t>Browse and select your </a:t>
          </a:r>
          <a:r>
            <a:rPr lang="en-IN" sz="2000" b="1" dirty="0"/>
            <a:t>dataset file</a:t>
          </a:r>
          <a:r>
            <a:rPr lang="en-IN" sz="2000" dirty="0"/>
            <a:t> (e.g., Customers.csv, Orders.csv).</a:t>
          </a:r>
          <a:endParaRPr lang="en-US" sz="2000" dirty="0"/>
        </a:p>
      </dgm:t>
    </dgm:pt>
    <dgm:pt modelId="{CB28746D-78B2-48E9-8CFB-094428CC3D4C}" type="parTrans" cxnId="{75A47603-2C92-41E9-BDD7-FF23ADEA9A96}">
      <dgm:prSet/>
      <dgm:spPr/>
      <dgm:t>
        <a:bodyPr/>
        <a:lstStyle/>
        <a:p>
          <a:endParaRPr lang="en-US"/>
        </a:p>
      </dgm:t>
    </dgm:pt>
    <dgm:pt modelId="{3456C4DF-7680-44CF-B6F7-3C1E45A28119}" type="sibTrans" cxnId="{75A47603-2C92-41E9-BDD7-FF23ADEA9A96}">
      <dgm:prSet/>
      <dgm:spPr/>
      <dgm:t>
        <a:bodyPr/>
        <a:lstStyle/>
        <a:p>
          <a:endParaRPr lang="en-US"/>
        </a:p>
      </dgm:t>
    </dgm:pt>
    <dgm:pt modelId="{F66F1044-3843-42FB-B657-C071DF37F1B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dirty="0"/>
            <a:t>Preview the data and click </a:t>
          </a:r>
          <a:r>
            <a:rPr lang="en-IN" b="1" dirty="0"/>
            <a:t>Load</a:t>
          </a:r>
          <a:r>
            <a:rPr lang="en-IN" dirty="0"/>
            <a:t>.</a:t>
          </a:r>
          <a:endParaRPr lang="en-US" dirty="0"/>
        </a:p>
      </dgm:t>
    </dgm:pt>
    <dgm:pt modelId="{B2EC5830-A186-4A2B-B924-77B9CA43490C}" type="parTrans" cxnId="{36D66A8E-2D1F-450E-B63A-733AAD3AAA30}">
      <dgm:prSet/>
      <dgm:spPr/>
      <dgm:t>
        <a:bodyPr/>
        <a:lstStyle/>
        <a:p>
          <a:endParaRPr lang="en-US"/>
        </a:p>
      </dgm:t>
    </dgm:pt>
    <dgm:pt modelId="{6EDA3725-99D6-4033-9920-FE67CE95BDD5}" type="sibTrans" cxnId="{36D66A8E-2D1F-450E-B63A-733AAD3AAA30}">
      <dgm:prSet/>
      <dgm:spPr/>
      <dgm:t>
        <a:bodyPr/>
        <a:lstStyle/>
        <a:p>
          <a:endParaRPr lang="en-US"/>
        </a:p>
      </dgm:t>
    </dgm:pt>
    <dgm:pt modelId="{A47E6C9B-0EF1-443A-8968-104E930612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Use </a:t>
          </a:r>
          <a:r>
            <a:rPr lang="en-IN" b="1"/>
            <a:t>Power Query</a:t>
          </a:r>
          <a:r>
            <a:rPr lang="en-IN"/>
            <a:t> to clean and transform data:</a:t>
          </a:r>
          <a:endParaRPr lang="en-US"/>
        </a:p>
      </dgm:t>
    </dgm:pt>
    <dgm:pt modelId="{A13D360A-E5AF-409E-B9CD-649E5374BDF5}" type="parTrans" cxnId="{4AD0509A-C5F1-4B9A-B295-29B219EC7E3A}">
      <dgm:prSet/>
      <dgm:spPr/>
      <dgm:t>
        <a:bodyPr/>
        <a:lstStyle/>
        <a:p>
          <a:endParaRPr lang="en-US"/>
        </a:p>
      </dgm:t>
    </dgm:pt>
    <dgm:pt modelId="{74BC9380-2C72-48F2-A68A-379A1342873E}" type="sibTrans" cxnId="{4AD0509A-C5F1-4B9A-B295-29B219EC7E3A}">
      <dgm:prSet/>
      <dgm:spPr/>
      <dgm:t>
        <a:bodyPr/>
        <a:lstStyle/>
        <a:p>
          <a:endParaRPr lang="en-US"/>
        </a:p>
      </dgm:t>
    </dgm:pt>
    <dgm:pt modelId="{95FCCE84-2109-4FC0-83F3-84553E528C57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9BB1D296-B13C-460F-9DA9-EC611DC42CC3}" type="parTrans" cxnId="{06EBA626-90CB-4B63-83EE-5D86CEA533AA}">
      <dgm:prSet/>
      <dgm:spPr/>
      <dgm:t>
        <a:bodyPr/>
        <a:lstStyle/>
        <a:p>
          <a:endParaRPr lang="en-US"/>
        </a:p>
      </dgm:t>
    </dgm:pt>
    <dgm:pt modelId="{277211DA-7A0A-4B4F-96A3-335AC38FF29B}" type="sibTrans" cxnId="{06EBA626-90CB-4B63-83EE-5D86CEA533AA}">
      <dgm:prSet/>
      <dgm:spPr/>
      <dgm:t>
        <a:bodyPr/>
        <a:lstStyle/>
        <a:p>
          <a:endParaRPr lang="en-US"/>
        </a:p>
      </dgm:t>
    </dgm:pt>
    <dgm:pt modelId="{96220E40-83C2-4324-AE57-E945AC50589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Create </a:t>
          </a:r>
          <a:r>
            <a:rPr lang="en-IN" b="1"/>
            <a:t>relationships</a:t>
          </a:r>
          <a:r>
            <a:rPr lang="en-IN"/>
            <a:t> between tables </a:t>
          </a:r>
          <a:endParaRPr lang="en-US"/>
        </a:p>
      </dgm:t>
    </dgm:pt>
    <dgm:pt modelId="{592DDF94-71BD-42A6-9F42-2E0783E0461E}" type="parTrans" cxnId="{30114C7A-33EF-4257-9A44-D5A712FDBF45}">
      <dgm:prSet/>
      <dgm:spPr/>
      <dgm:t>
        <a:bodyPr/>
        <a:lstStyle/>
        <a:p>
          <a:endParaRPr lang="en-US"/>
        </a:p>
      </dgm:t>
    </dgm:pt>
    <dgm:pt modelId="{42DCAB08-17C6-43A3-AE04-F4D07C14EBF8}" type="sibTrans" cxnId="{30114C7A-33EF-4257-9A44-D5A712FDBF45}">
      <dgm:prSet/>
      <dgm:spPr/>
      <dgm:t>
        <a:bodyPr/>
        <a:lstStyle/>
        <a:p>
          <a:endParaRPr lang="en-US"/>
        </a:p>
      </dgm:t>
    </dgm:pt>
    <dgm:pt modelId="{8EAA1507-6359-402C-951A-22DB6803CE2E}" type="pres">
      <dgm:prSet presAssocID="{35D0EA55-27E1-4189-BF18-CF6B967FEA4A}" presName="root" presStyleCnt="0">
        <dgm:presLayoutVars>
          <dgm:dir/>
          <dgm:resizeHandles val="exact"/>
        </dgm:presLayoutVars>
      </dgm:prSet>
      <dgm:spPr/>
    </dgm:pt>
    <dgm:pt modelId="{F105927B-476E-4A64-A14D-6DE521494921}" type="pres">
      <dgm:prSet presAssocID="{1506C7EB-96A4-4A7E-BC14-C98FD23F0DF9}" presName="compNode" presStyleCnt="0"/>
      <dgm:spPr/>
    </dgm:pt>
    <dgm:pt modelId="{B18404E7-7A37-4353-9D73-C19A7FE4DBFB}" type="pres">
      <dgm:prSet presAssocID="{1506C7EB-96A4-4A7E-BC14-C98FD23F0DF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73730BE9-C5CA-4C56-805D-CE7D170BD413}" type="pres">
      <dgm:prSet presAssocID="{1506C7EB-96A4-4A7E-BC14-C98FD23F0DF9}" presName="iconSpace" presStyleCnt="0"/>
      <dgm:spPr/>
    </dgm:pt>
    <dgm:pt modelId="{0E57610B-9D9D-4AA1-A4EC-DA73D65823F3}" type="pres">
      <dgm:prSet presAssocID="{1506C7EB-96A4-4A7E-BC14-C98FD23F0DF9}" presName="parTx" presStyleLbl="revTx" presStyleIdx="0" presStyleCnt="12">
        <dgm:presLayoutVars>
          <dgm:chMax val="0"/>
          <dgm:chPref val="0"/>
        </dgm:presLayoutVars>
      </dgm:prSet>
      <dgm:spPr/>
    </dgm:pt>
    <dgm:pt modelId="{24211FCD-83A4-4E57-B2AC-032404C61AF3}" type="pres">
      <dgm:prSet presAssocID="{1506C7EB-96A4-4A7E-BC14-C98FD23F0DF9}" presName="txSpace" presStyleCnt="0"/>
      <dgm:spPr/>
    </dgm:pt>
    <dgm:pt modelId="{64905213-FB23-4987-871D-52B341499232}" type="pres">
      <dgm:prSet presAssocID="{1506C7EB-96A4-4A7E-BC14-C98FD23F0DF9}" presName="desTx" presStyleLbl="revTx" presStyleIdx="1" presStyleCnt="12">
        <dgm:presLayoutVars/>
      </dgm:prSet>
      <dgm:spPr/>
    </dgm:pt>
    <dgm:pt modelId="{F4CABE79-A8B0-474C-A9A4-A9D79DCB5D97}" type="pres">
      <dgm:prSet presAssocID="{1EBEF814-A2A6-40C2-AE0D-51407AF69CBB}" presName="sibTrans" presStyleCnt="0"/>
      <dgm:spPr/>
    </dgm:pt>
    <dgm:pt modelId="{58954047-9508-44DB-83B2-ACB2F1A6170D}" type="pres">
      <dgm:prSet presAssocID="{C2F4A3D0-BB22-401A-AFF3-66BEFDDE9FBA}" presName="compNode" presStyleCnt="0"/>
      <dgm:spPr/>
    </dgm:pt>
    <dgm:pt modelId="{4F1ACFD2-1D5F-4452-BE9B-A7C68D7B2094}" type="pres">
      <dgm:prSet presAssocID="{C2F4A3D0-BB22-401A-AFF3-66BEFDDE9FB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76ADC0BE-ECAE-4E95-A12E-A16927A3CFD2}" type="pres">
      <dgm:prSet presAssocID="{C2F4A3D0-BB22-401A-AFF3-66BEFDDE9FBA}" presName="iconSpace" presStyleCnt="0"/>
      <dgm:spPr/>
    </dgm:pt>
    <dgm:pt modelId="{0FC0DC0C-6DA1-447D-AD36-D5148608340B}" type="pres">
      <dgm:prSet presAssocID="{C2F4A3D0-BB22-401A-AFF3-66BEFDDE9FBA}" presName="parTx" presStyleLbl="revTx" presStyleIdx="2" presStyleCnt="12">
        <dgm:presLayoutVars>
          <dgm:chMax val="0"/>
          <dgm:chPref val="0"/>
        </dgm:presLayoutVars>
      </dgm:prSet>
      <dgm:spPr/>
    </dgm:pt>
    <dgm:pt modelId="{6D28A4E8-6219-49DD-BDEA-38EA2DDD26CB}" type="pres">
      <dgm:prSet presAssocID="{C2F4A3D0-BB22-401A-AFF3-66BEFDDE9FBA}" presName="txSpace" presStyleCnt="0"/>
      <dgm:spPr/>
    </dgm:pt>
    <dgm:pt modelId="{BCC14F60-A6C6-4E1F-9A56-5CEE6162E1B7}" type="pres">
      <dgm:prSet presAssocID="{C2F4A3D0-BB22-401A-AFF3-66BEFDDE9FBA}" presName="desTx" presStyleLbl="revTx" presStyleIdx="3" presStyleCnt="12">
        <dgm:presLayoutVars/>
      </dgm:prSet>
      <dgm:spPr/>
    </dgm:pt>
    <dgm:pt modelId="{F04A325D-3015-4656-8E02-A6F8B4B6D767}" type="pres">
      <dgm:prSet presAssocID="{D6286593-43C9-470F-A35B-F09F141D6B24}" presName="sibTrans" presStyleCnt="0"/>
      <dgm:spPr/>
    </dgm:pt>
    <dgm:pt modelId="{B30FF72F-813A-4430-BD0D-87EA62CBA070}" type="pres">
      <dgm:prSet presAssocID="{E7272488-0C97-4952-BF78-9B2EFE2DEA61}" presName="compNode" presStyleCnt="0"/>
      <dgm:spPr/>
    </dgm:pt>
    <dgm:pt modelId="{2B6ADAD3-BB36-4496-BD2F-66DF0E50A93D}" type="pres">
      <dgm:prSet presAssocID="{E7272488-0C97-4952-BF78-9B2EFE2DEA6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502DFD6-80D4-422E-ABB9-1E21DFC126C0}" type="pres">
      <dgm:prSet presAssocID="{E7272488-0C97-4952-BF78-9B2EFE2DEA61}" presName="iconSpace" presStyleCnt="0"/>
      <dgm:spPr/>
    </dgm:pt>
    <dgm:pt modelId="{9B474C10-B556-4B91-829A-DF3DC7E1A9D4}" type="pres">
      <dgm:prSet presAssocID="{E7272488-0C97-4952-BF78-9B2EFE2DEA61}" presName="parTx" presStyleLbl="revTx" presStyleIdx="4" presStyleCnt="12" custScaleX="127759">
        <dgm:presLayoutVars>
          <dgm:chMax val="0"/>
          <dgm:chPref val="0"/>
        </dgm:presLayoutVars>
      </dgm:prSet>
      <dgm:spPr/>
    </dgm:pt>
    <dgm:pt modelId="{DB08D36E-2C7D-4751-86D5-A11AC537CFE6}" type="pres">
      <dgm:prSet presAssocID="{E7272488-0C97-4952-BF78-9B2EFE2DEA61}" presName="txSpace" presStyleCnt="0"/>
      <dgm:spPr/>
    </dgm:pt>
    <dgm:pt modelId="{2C54F076-7E08-4897-B495-866897C71729}" type="pres">
      <dgm:prSet presAssocID="{E7272488-0C97-4952-BF78-9B2EFE2DEA61}" presName="desTx" presStyleLbl="revTx" presStyleIdx="5" presStyleCnt="12">
        <dgm:presLayoutVars/>
      </dgm:prSet>
      <dgm:spPr/>
    </dgm:pt>
    <dgm:pt modelId="{E0B9FC0C-F348-4ABF-A163-64A8F110787D}" type="pres">
      <dgm:prSet presAssocID="{3456C4DF-7680-44CF-B6F7-3C1E45A28119}" presName="sibTrans" presStyleCnt="0"/>
      <dgm:spPr/>
    </dgm:pt>
    <dgm:pt modelId="{51D4C924-D0BD-4AD1-8361-104BA6DF1C04}" type="pres">
      <dgm:prSet presAssocID="{F66F1044-3843-42FB-B657-C071DF37F1BE}" presName="compNode" presStyleCnt="0"/>
      <dgm:spPr/>
    </dgm:pt>
    <dgm:pt modelId="{22A8112B-ACC0-4491-ABA5-56FC0219582C}" type="pres">
      <dgm:prSet presAssocID="{F66F1044-3843-42FB-B657-C071DF37F1B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340C518C-7E9B-4F2B-AB3E-8373C10EBC59}" type="pres">
      <dgm:prSet presAssocID="{F66F1044-3843-42FB-B657-C071DF37F1BE}" presName="iconSpace" presStyleCnt="0"/>
      <dgm:spPr/>
    </dgm:pt>
    <dgm:pt modelId="{6B30E9FA-1FFF-4D59-A8FA-29CE3D17039E}" type="pres">
      <dgm:prSet presAssocID="{F66F1044-3843-42FB-B657-C071DF37F1BE}" presName="parTx" presStyleLbl="revTx" presStyleIdx="6" presStyleCnt="12">
        <dgm:presLayoutVars>
          <dgm:chMax val="0"/>
          <dgm:chPref val="0"/>
        </dgm:presLayoutVars>
      </dgm:prSet>
      <dgm:spPr/>
    </dgm:pt>
    <dgm:pt modelId="{D6DA2F4D-C1C5-44D8-9688-52CC5345D10E}" type="pres">
      <dgm:prSet presAssocID="{F66F1044-3843-42FB-B657-C071DF37F1BE}" presName="txSpace" presStyleCnt="0"/>
      <dgm:spPr/>
    </dgm:pt>
    <dgm:pt modelId="{2B9ECBF4-05FF-4813-A2E3-867DC4C9AA22}" type="pres">
      <dgm:prSet presAssocID="{F66F1044-3843-42FB-B657-C071DF37F1BE}" presName="desTx" presStyleLbl="revTx" presStyleIdx="7" presStyleCnt="12">
        <dgm:presLayoutVars/>
      </dgm:prSet>
      <dgm:spPr/>
    </dgm:pt>
    <dgm:pt modelId="{1DF13DAD-DB4A-46E9-BDFE-4AB1003F4928}" type="pres">
      <dgm:prSet presAssocID="{6EDA3725-99D6-4033-9920-FE67CE95BDD5}" presName="sibTrans" presStyleCnt="0"/>
      <dgm:spPr/>
    </dgm:pt>
    <dgm:pt modelId="{59335BF0-50AA-44FE-BAF0-D72DCB0C1287}" type="pres">
      <dgm:prSet presAssocID="{A47E6C9B-0EF1-443A-8968-104E930612A4}" presName="compNode" presStyleCnt="0"/>
      <dgm:spPr/>
    </dgm:pt>
    <dgm:pt modelId="{C51EEE2C-7630-45F2-AB90-3BD5494DA392}" type="pres">
      <dgm:prSet presAssocID="{A47E6C9B-0EF1-443A-8968-104E930612A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951C078-0988-4330-9D3D-92BE255A20E9}" type="pres">
      <dgm:prSet presAssocID="{A47E6C9B-0EF1-443A-8968-104E930612A4}" presName="iconSpace" presStyleCnt="0"/>
      <dgm:spPr/>
    </dgm:pt>
    <dgm:pt modelId="{810D01F3-CC7A-44C0-8D09-91CB2A8E6CD1}" type="pres">
      <dgm:prSet presAssocID="{A47E6C9B-0EF1-443A-8968-104E930612A4}" presName="parTx" presStyleLbl="revTx" presStyleIdx="8" presStyleCnt="12">
        <dgm:presLayoutVars>
          <dgm:chMax val="0"/>
          <dgm:chPref val="0"/>
        </dgm:presLayoutVars>
      </dgm:prSet>
      <dgm:spPr/>
    </dgm:pt>
    <dgm:pt modelId="{8BB48E40-EEE8-4876-9F01-A1D0328CB6B0}" type="pres">
      <dgm:prSet presAssocID="{A47E6C9B-0EF1-443A-8968-104E930612A4}" presName="txSpace" presStyleCnt="0"/>
      <dgm:spPr/>
    </dgm:pt>
    <dgm:pt modelId="{9EE94A92-80F0-48D4-8626-29F9169332A8}" type="pres">
      <dgm:prSet presAssocID="{A47E6C9B-0EF1-443A-8968-104E930612A4}" presName="desTx" presStyleLbl="revTx" presStyleIdx="9" presStyleCnt="12">
        <dgm:presLayoutVars/>
      </dgm:prSet>
      <dgm:spPr/>
    </dgm:pt>
    <dgm:pt modelId="{7E3303CB-C8ED-4D92-93B2-BFE8EC26D382}" type="pres">
      <dgm:prSet presAssocID="{74BC9380-2C72-48F2-A68A-379A1342873E}" presName="sibTrans" presStyleCnt="0"/>
      <dgm:spPr/>
    </dgm:pt>
    <dgm:pt modelId="{89CA4DF1-6DEC-46E7-A30E-BF028C9D159A}" type="pres">
      <dgm:prSet presAssocID="{96220E40-83C2-4324-AE57-E945AC50589A}" presName="compNode" presStyleCnt="0"/>
      <dgm:spPr/>
    </dgm:pt>
    <dgm:pt modelId="{D21A7D69-3F13-419E-BAEA-9E0D8B9E14A5}" type="pres">
      <dgm:prSet presAssocID="{96220E40-83C2-4324-AE57-E945AC50589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DEC4A0C-440C-4C0E-AAC2-0E5CE840E2BC}" type="pres">
      <dgm:prSet presAssocID="{96220E40-83C2-4324-AE57-E945AC50589A}" presName="iconSpace" presStyleCnt="0"/>
      <dgm:spPr/>
    </dgm:pt>
    <dgm:pt modelId="{12C21D4B-ED76-4C5D-BD05-03842C87635E}" type="pres">
      <dgm:prSet presAssocID="{96220E40-83C2-4324-AE57-E945AC50589A}" presName="parTx" presStyleLbl="revTx" presStyleIdx="10" presStyleCnt="12">
        <dgm:presLayoutVars>
          <dgm:chMax val="0"/>
          <dgm:chPref val="0"/>
        </dgm:presLayoutVars>
      </dgm:prSet>
      <dgm:spPr/>
    </dgm:pt>
    <dgm:pt modelId="{1872E2C2-298D-4779-97CF-4F92A01E89A6}" type="pres">
      <dgm:prSet presAssocID="{96220E40-83C2-4324-AE57-E945AC50589A}" presName="txSpace" presStyleCnt="0"/>
      <dgm:spPr/>
    </dgm:pt>
    <dgm:pt modelId="{9F1B0390-A549-45B5-BB4C-43F9CE46A926}" type="pres">
      <dgm:prSet presAssocID="{96220E40-83C2-4324-AE57-E945AC50589A}" presName="desTx" presStyleLbl="revTx" presStyleIdx="11" presStyleCnt="12">
        <dgm:presLayoutVars/>
      </dgm:prSet>
      <dgm:spPr/>
    </dgm:pt>
  </dgm:ptLst>
  <dgm:cxnLst>
    <dgm:cxn modelId="{75A47603-2C92-41E9-BDD7-FF23ADEA9A96}" srcId="{35D0EA55-27E1-4189-BF18-CF6B967FEA4A}" destId="{E7272488-0C97-4952-BF78-9B2EFE2DEA61}" srcOrd="2" destOrd="0" parTransId="{CB28746D-78B2-48E9-8CFB-094428CC3D4C}" sibTransId="{3456C4DF-7680-44CF-B6F7-3C1E45A28119}"/>
    <dgm:cxn modelId="{06EBA626-90CB-4B63-83EE-5D86CEA533AA}" srcId="{A47E6C9B-0EF1-443A-8968-104E930612A4}" destId="{95FCCE84-2109-4FC0-83F3-84553E528C57}" srcOrd="0" destOrd="0" parTransId="{9BB1D296-B13C-460F-9DA9-EC611DC42CC3}" sibTransId="{277211DA-7A0A-4B4F-96A3-335AC38FF29B}"/>
    <dgm:cxn modelId="{7A161643-613F-478D-B207-4B1FD4E41D4E}" type="presOf" srcId="{F66F1044-3843-42FB-B657-C071DF37F1BE}" destId="{6B30E9FA-1FFF-4D59-A8FA-29CE3D17039E}" srcOrd="0" destOrd="0" presId="urn:microsoft.com/office/officeart/2018/5/layout/CenteredIconLabelDescriptionList"/>
    <dgm:cxn modelId="{E4BA0447-B0F7-46AB-8AC5-1ADE94729439}" type="presOf" srcId="{A47E6C9B-0EF1-443A-8968-104E930612A4}" destId="{810D01F3-CC7A-44C0-8D09-91CB2A8E6CD1}" srcOrd="0" destOrd="0" presId="urn:microsoft.com/office/officeart/2018/5/layout/CenteredIconLabelDescriptionList"/>
    <dgm:cxn modelId="{E0F77047-ECEC-4049-98A8-F5CE5EAE867B}" type="presOf" srcId="{E7272488-0C97-4952-BF78-9B2EFE2DEA61}" destId="{9B474C10-B556-4B91-829A-DF3DC7E1A9D4}" srcOrd="0" destOrd="0" presId="urn:microsoft.com/office/officeart/2018/5/layout/CenteredIconLabelDescriptionList"/>
    <dgm:cxn modelId="{1F311D59-0AD0-42E9-ABE9-BA2C088C804F}" type="presOf" srcId="{C2F4A3D0-BB22-401A-AFF3-66BEFDDE9FBA}" destId="{0FC0DC0C-6DA1-447D-AD36-D5148608340B}" srcOrd="0" destOrd="0" presId="urn:microsoft.com/office/officeart/2018/5/layout/CenteredIconLabelDescriptionList"/>
    <dgm:cxn modelId="{30114C7A-33EF-4257-9A44-D5A712FDBF45}" srcId="{35D0EA55-27E1-4189-BF18-CF6B967FEA4A}" destId="{96220E40-83C2-4324-AE57-E945AC50589A}" srcOrd="5" destOrd="0" parTransId="{592DDF94-71BD-42A6-9F42-2E0783E0461E}" sibTransId="{42DCAB08-17C6-43A3-AE04-F4D07C14EBF8}"/>
    <dgm:cxn modelId="{1D84A07E-01FA-4861-BCC4-684E0C5BB9C5}" type="presOf" srcId="{1506C7EB-96A4-4A7E-BC14-C98FD23F0DF9}" destId="{0E57610B-9D9D-4AA1-A4EC-DA73D65823F3}" srcOrd="0" destOrd="0" presId="urn:microsoft.com/office/officeart/2018/5/layout/CenteredIconLabelDescriptionList"/>
    <dgm:cxn modelId="{92F4B786-78D1-407A-A527-77F5CBB066C5}" srcId="{35D0EA55-27E1-4189-BF18-CF6B967FEA4A}" destId="{1506C7EB-96A4-4A7E-BC14-C98FD23F0DF9}" srcOrd="0" destOrd="0" parTransId="{E23E51E5-8ADE-42AC-A760-9B06A7773C88}" sibTransId="{1EBEF814-A2A6-40C2-AE0D-51407AF69CBB}"/>
    <dgm:cxn modelId="{36D66A8E-2D1F-450E-B63A-733AAD3AAA30}" srcId="{35D0EA55-27E1-4189-BF18-CF6B967FEA4A}" destId="{F66F1044-3843-42FB-B657-C071DF37F1BE}" srcOrd="3" destOrd="0" parTransId="{B2EC5830-A186-4A2B-B924-77B9CA43490C}" sibTransId="{6EDA3725-99D6-4033-9920-FE67CE95BDD5}"/>
    <dgm:cxn modelId="{4AD0509A-C5F1-4B9A-B295-29B219EC7E3A}" srcId="{35D0EA55-27E1-4189-BF18-CF6B967FEA4A}" destId="{A47E6C9B-0EF1-443A-8968-104E930612A4}" srcOrd="4" destOrd="0" parTransId="{A13D360A-E5AF-409E-B9CD-649E5374BDF5}" sibTransId="{74BC9380-2C72-48F2-A68A-379A1342873E}"/>
    <dgm:cxn modelId="{352662B3-A608-4A5F-BE95-A98185D2030B}" type="presOf" srcId="{35D0EA55-27E1-4189-BF18-CF6B967FEA4A}" destId="{8EAA1507-6359-402C-951A-22DB6803CE2E}" srcOrd="0" destOrd="0" presId="urn:microsoft.com/office/officeart/2018/5/layout/CenteredIconLabelDescriptionList"/>
    <dgm:cxn modelId="{033B14C3-E4AD-441B-A1A2-612F8C1199F9}" srcId="{35D0EA55-27E1-4189-BF18-CF6B967FEA4A}" destId="{C2F4A3D0-BB22-401A-AFF3-66BEFDDE9FBA}" srcOrd="1" destOrd="0" parTransId="{8095E98F-72FA-4C27-85C1-C588B6D2BB05}" sibTransId="{D6286593-43C9-470F-A35B-F09F141D6B24}"/>
    <dgm:cxn modelId="{0826C6DE-7DCE-4C6E-A5A8-5920E3EDD482}" type="presOf" srcId="{95FCCE84-2109-4FC0-83F3-84553E528C57}" destId="{9EE94A92-80F0-48D4-8626-29F9169332A8}" srcOrd="0" destOrd="0" presId="urn:microsoft.com/office/officeart/2018/5/layout/CenteredIconLabelDescriptionList"/>
    <dgm:cxn modelId="{C3200DF7-3453-49DD-A169-289D09513F47}" type="presOf" srcId="{96220E40-83C2-4324-AE57-E945AC50589A}" destId="{12C21D4B-ED76-4C5D-BD05-03842C87635E}" srcOrd="0" destOrd="0" presId="urn:microsoft.com/office/officeart/2018/5/layout/CenteredIconLabelDescriptionList"/>
    <dgm:cxn modelId="{BE938832-B373-490A-83FE-2BD93F3C1FCE}" type="presParOf" srcId="{8EAA1507-6359-402C-951A-22DB6803CE2E}" destId="{F105927B-476E-4A64-A14D-6DE521494921}" srcOrd="0" destOrd="0" presId="urn:microsoft.com/office/officeart/2018/5/layout/CenteredIconLabelDescriptionList"/>
    <dgm:cxn modelId="{52BE2796-AA7A-48CA-8835-818B26671ED0}" type="presParOf" srcId="{F105927B-476E-4A64-A14D-6DE521494921}" destId="{B18404E7-7A37-4353-9D73-C19A7FE4DBFB}" srcOrd="0" destOrd="0" presId="urn:microsoft.com/office/officeart/2018/5/layout/CenteredIconLabelDescriptionList"/>
    <dgm:cxn modelId="{147986DC-5447-437A-A1E3-1FDA5D10AC38}" type="presParOf" srcId="{F105927B-476E-4A64-A14D-6DE521494921}" destId="{73730BE9-C5CA-4C56-805D-CE7D170BD413}" srcOrd="1" destOrd="0" presId="urn:microsoft.com/office/officeart/2018/5/layout/CenteredIconLabelDescriptionList"/>
    <dgm:cxn modelId="{8EA33E06-E9C3-4241-B49A-41D4C1D28D58}" type="presParOf" srcId="{F105927B-476E-4A64-A14D-6DE521494921}" destId="{0E57610B-9D9D-4AA1-A4EC-DA73D65823F3}" srcOrd="2" destOrd="0" presId="urn:microsoft.com/office/officeart/2018/5/layout/CenteredIconLabelDescriptionList"/>
    <dgm:cxn modelId="{6883BA94-10FF-4977-B9A5-9980217B80C2}" type="presParOf" srcId="{F105927B-476E-4A64-A14D-6DE521494921}" destId="{24211FCD-83A4-4E57-B2AC-032404C61AF3}" srcOrd="3" destOrd="0" presId="urn:microsoft.com/office/officeart/2018/5/layout/CenteredIconLabelDescriptionList"/>
    <dgm:cxn modelId="{FC83EEAC-ED45-422D-AF2E-2F27360E4FB3}" type="presParOf" srcId="{F105927B-476E-4A64-A14D-6DE521494921}" destId="{64905213-FB23-4987-871D-52B341499232}" srcOrd="4" destOrd="0" presId="urn:microsoft.com/office/officeart/2018/5/layout/CenteredIconLabelDescriptionList"/>
    <dgm:cxn modelId="{19931D70-4A6F-442B-94D9-ED6F03CB81F1}" type="presParOf" srcId="{8EAA1507-6359-402C-951A-22DB6803CE2E}" destId="{F4CABE79-A8B0-474C-A9A4-A9D79DCB5D97}" srcOrd="1" destOrd="0" presId="urn:microsoft.com/office/officeart/2018/5/layout/CenteredIconLabelDescriptionList"/>
    <dgm:cxn modelId="{D41379B6-28DE-4639-A0D9-ECC77DA868C6}" type="presParOf" srcId="{8EAA1507-6359-402C-951A-22DB6803CE2E}" destId="{58954047-9508-44DB-83B2-ACB2F1A6170D}" srcOrd="2" destOrd="0" presId="urn:microsoft.com/office/officeart/2018/5/layout/CenteredIconLabelDescriptionList"/>
    <dgm:cxn modelId="{4F2A8531-A4D2-40D1-982F-6C9BCB0126E3}" type="presParOf" srcId="{58954047-9508-44DB-83B2-ACB2F1A6170D}" destId="{4F1ACFD2-1D5F-4452-BE9B-A7C68D7B2094}" srcOrd="0" destOrd="0" presId="urn:microsoft.com/office/officeart/2018/5/layout/CenteredIconLabelDescriptionList"/>
    <dgm:cxn modelId="{E97C2D67-7049-483B-9BFF-5FBAA15867DC}" type="presParOf" srcId="{58954047-9508-44DB-83B2-ACB2F1A6170D}" destId="{76ADC0BE-ECAE-4E95-A12E-A16927A3CFD2}" srcOrd="1" destOrd="0" presId="urn:microsoft.com/office/officeart/2018/5/layout/CenteredIconLabelDescriptionList"/>
    <dgm:cxn modelId="{E070102A-887B-4F91-8E47-0FA0890DBBAF}" type="presParOf" srcId="{58954047-9508-44DB-83B2-ACB2F1A6170D}" destId="{0FC0DC0C-6DA1-447D-AD36-D5148608340B}" srcOrd="2" destOrd="0" presId="urn:microsoft.com/office/officeart/2018/5/layout/CenteredIconLabelDescriptionList"/>
    <dgm:cxn modelId="{6ECE1389-F6BF-4051-858E-9700E513C05E}" type="presParOf" srcId="{58954047-9508-44DB-83B2-ACB2F1A6170D}" destId="{6D28A4E8-6219-49DD-BDEA-38EA2DDD26CB}" srcOrd="3" destOrd="0" presId="urn:microsoft.com/office/officeart/2018/5/layout/CenteredIconLabelDescriptionList"/>
    <dgm:cxn modelId="{D7205B44-2E57-44C0-9F64-963F6C289291}" type="presParOf" srcId="{58954047-9508-44DB-83B2-ACB2F1A6170D}" destId="{BCC14F60-A6C6-4E1F-9A56-5CEE6162E1B7}" srcOrd="4" destOrd="0" presId="urn:microsoft.com/office/officeart/2018/5/layout/CenteredIconLabelDescriptionList"/>
    <dgm:cxn modelId="{83C5BA05-31F1-4D1B-9C6B-0BB4EAC74C8B}" type="presParOf" srcId="{8EAA1507-6359-402C-951A-22DB6803CE2E}" destId="{F04A325D-3015-4656-8E02-A6F8B4B6D767}" srcOrd="3" destOrd="0" presId="urn:microsoft.com/office/officeart/2018/5/layout/CenteredIconLabelDescriptionList"/>
    <dgm:cxn modelId="{28185963-D17A-4AD3-92B0-C75A559910CB}" type="presParOf" srcId="{8EAA1507-6359-402C-951A-22DB6803CE2E}" destId="{B30FF72F-813A-4430-BD0D-87EA62CBA070}" srcOrd="4" destOrd="0" presId="urn:microsoft.com/office/officeart/2018/5/layout/CenteredIconLabelDescriptionList"/>
    <dgm:cxn modelId="{0DBA555D-8B40-483A-9616-8948A07E0888}" type="presParOf" srcId="{B30FF72F-813A-4430-BD0D-87EA62CBA070}" destId="{2B6ADAD3-BB36-4496-BD2F-66DF0E50A93D}" srcOrd="0" destOrd="0" presId="urn:microsoft.com/office/officeart/2018/5/layout/CenteredIconLabelDescriptionList"/>
    <dgm:cxn modelId="{79ECF5B3-4DCF-4075-B11A-225C30D663D6}" type="presParOf" srcId="{B30FF72F-813A-4430-BD0D-87EA62CBA070}" destId="{0502DFD6-80D4-422E-ABB9-1E21DFC126C0}" srcOrd="1" destOrd="0" presId="urn:microsoft.com/office/officeart/2018/5/layout/CenteredIconLabelDescriptionList"/>
    <dgm:cxn modelId="{25D3DF66-2201-42E3-9F26-39EA6E2F654F}" type="presParOf" srcId="{B30FF72F-813A-4430-BD0D-87EA62CBA070}" destId="{9B474C10-B556-4B91-829A-DF3DC7E1A9D4}" srcOrd="2" destOrd="0" presId="urn:microsoft.com/office/officeart/2018/5/layout/CenteredIconLabelDescriptionList"/>
    <dgm:cxn modelId="{8E9C03CC-5708-4798-B5AD-6571F580B13E}" type="presParOf" srcId="{B30FF72F-813A-4430-BD0D-87EA62CBA070}" destId="{DB08D36E-2C7D-4751-86D5-A11AC537CFE6}" srcOrd="3" destOrd="0" presId="urn:microsoft.com/office/officeart/2018/5/layout/CenteredIconLabelDescriptionList"/>
    <dgm:cxn modelId="{F971107C-1F89-4601-87EC-57D58D29202F}" type="presParOf" srcId="{B30FF72F-813A-4430-BD0D-87EA62CBA070}" destId="{2C54F076-7E08-4897-B495-866897C71729}" srcOrd="4" destOrd="0" presId="urn:microsoft.com/office/officeart/2018/5/layout/CenteredIconLabelDescriptionList"/>
    <dgm:cxn modelId="{E450753B-DADE-4F42-90C1-4EF9A2A4793A}" type="presParOf" srcId="{8EAA1507-6359-402C-951A-22DB6803CE2E}" destId="{E0B9FC0C-F348-4ABF-A163-64A8F110787D}" srcOrd="5" destOrd="0" presId="urn:microsoft.com/office/officeart/2018/5/layout/CenteredIconLabelDescriptionList"/>
    <dgm:cxn modelId="{DB60F90E-A261-44D3-B7DB-42906172DCFA}" type="presParOf" srcId="{8EAA1507-6359-402C-951A-22DB6803CE2E}" destId="{51D4C924-D0BD-4AD1-8361-104BA6DF1C04}" srcOrd="6" destOrd="0" presId="urn:microsoft.com/office/officeart/2018/5/layout/CenteredIconLabelDescriptionList"/>
    <dgm:cxn modelId="{5391AD4E-67EA-40BC-9C4E-68CF81A610BC}" type="presParOf" srcId="{51D4C924-D0BD-4AD1-8361-104BA6DF1C04}" destId="{22A8112B-ACC0-4491-ABA5-56FC0219582C}" srcOrd="0" destOrd="0" presId="urn:microsoft.com/office/officeart/2018/5/layout/CenteredIconLabelDescriptionList"/>
    <dgm:cxn modelId="{50D481BC-F171-46BC-A745-850BE4960FC0}" type="presParOf" srcId="{51D4C924-D0BD-4AD1-8361-104BA6DF1C04}" destId="{340C518C-7E9B-4F2B-AB3E-8373C10EBC59}" srcOrd="1" destOrd="0" presId="urn:microsoft.com/office/officeart/2018/5/layout/CenteredIconLabelDescriptionList"/>
    <dgm:cxn modelId="{6706CAA1-9321-4133-88F4-D20FFE3FD559}" type="presParOf" srcId="{51D4C924-D0BD-4AD1-8361-104BA6DF1C04}" destId="{6B30E9FA-1FFF-4D59-A8FA-29CE3D17039E}" srcOrd="2" destOrd="0" presId="urn:microsoft.com/office/officeart/2018/5/layout/CenteredIconLabelDescriptionList"/>
    <dgm:cxn modelId="{06941D33-CD76-430F-8055-395435C8B995}" type="presParOf" srcId="{51D4C924-D0BD-4AD1-8361-104BA6DF1C04}" destId="{D6DA2F4D-C1C5-44D8-9688-52CC5345D10E}" srcOrd="3" destOrd="0" presId="urn:microsoft.com/office/officeart/2018/5/layout/CenteredIconLabelDescriptionList"/>
    <dgm:cxn modelId="{121ED0CB-3ABC-45ED-99B2-62EED5750D94}" type="presParOf" srcId="{51D4C924-D0BD-4AD1-8361-104BA6DF1C04}" destId="{2B9ECBF4-05FF-4813-A2E3-867DC4C9AA22}" srcOrd="4" destOrd="0" presId="urn:microsoft.com/office/officeart/2018/5/layout/CenteredIconLabelDescriptionList"/>
    <dgm:cxn modelId="{6FB27F82-0274-4D56-93E8-12AC6905C53E}" type="presParOf" srcId="{8EAA1507-6359-402C-951A-22DB6803CE2E}" destId="{1DF13DAD-DB4A-46E9-BDFE-4AB1003F4928}" srcOrd="7" destOrd="0" presId="urn:microsoft.com/office/officeart/2018/5/layout/CenteredIconLabelDescriptionList"/>
    <dgm:cxn modelId="{922E828E-F11A-4577-897D-7F6C07EA8C49}" type="presParOf" srcId="{8EAA1507-6359-402C-951A-22DB6803CE2E}" destId="{59335BF0-50AA-44FE-BAF0-D72DCB0C1287}" srcOrd="8" destOrd="0" presId="urn:microsoft.com/office/officeart/2018/5/layout/CenteredIconLabelDescriptionList"/>
    <dgm:cxn modelId="{EE67E2C0-9A62-45BA-9A8F-E70B8A249D91}" type="presParOf" srcId="{59335BF0-50AA-44FE-BAF0-D72DCB0C1287}" destId="{C51EEE2C-7630-45F2-AB90-3BD5494DA392}" srcOrd="0" destOrd="0" presId="urn:microsoft.com/office/officeart/2018/5/layout/CenteredIconLabelDescriptionList"/>
    <dgm:cxn modelId="{A42B2B72-DEA2-458F-B888-8CD0CD0C855F}" type="presParOf" srcId="{59335BF0-50AA-44FE-BAF0-D72DCB0C1287}" destId="{9951C078-0988-4330-9D3D-92BE255A20E9}" srcOrd="1" destOrd="0" presId="urn:microsoft.com/office/officeart/2018/5/layout/CenteredIconLabelDescriptionList"/>
    <dgm:cxn modelId="{043D4DEF-29E7-4441-B773-EEB3D3CDD1B0}" type="presParOf" srcId="{59335BF0-50AA-44FE-BAF0-D72DCB0C1287}" destId="{810D01F3-CC7A-44C0-8D09-91CB2A8E6CD1}" srcOrd="2" destOrd="0" presId="urn:microsoft.com/office/officeart/2018/5/layout/CenteredIconLabelDescriptionList"/>
    <dgm:cxn modelId="{DCA938A3-0649-41E8-A4E8-A0DAA46875B7}" type="presParOf" srcId="{59335BF0-50AA-44FE-BAF0-D72DCB0C1287}" destId="{8BB48E40-EEE8-4876-9F01-A1D0328CB6B0}" srcOrd="3" destOrd="0" presId="urn:microsoft.com/office/officeart/2018/5/layout/CenteredIconLabelDescriptionList"/>
    <dgm:cxn modelId="{B2146ACB-4E10-4DB5-95A5-35F1F0557ABB}" type="presParOf" srcId="{59335BF0-50AA-44FE-BAF0-D72DCB0C1287}" destId="{9EE94A92-80F0-48D4-8626-29F9169332A8}" srcOrd="4" destOrd="0" presId="urn:microsoft.com/office/officeart/2018/5/layout/CenteredIconLabelDescriptionList"/>
    <dgm:cxn modelId="{E63D75E3-F6BA-49C9-A017-70F2E00C7E2B}" type="presParOf" srcId="{8EAA1507-6359-402C-951A-22DB6803CE2E}" destId="{7E3303CB-C8ED-4D92-93B2-BFE8EC26D382}" srcOrd="9" destOrd="0" presId="urn:microsoft.com/office/officeart/2018/5/layout/CenteredIconLabelDescriptionList"/>
    <dgm:cxn modelId="{1FA1773D-8121-49BA-B1F9-AF6A72FEB307}" type="presParOf" srcId="{8EAA1507-6359-402C-951A-22DB6803CE2E}" destId="{89CA4DF1-6DEC-46E7-A30E-BF028C9D159A}" srcOrd="10" destOrd="0" presId="urn:microsoft.com/office/officeart/2018/5/layout/CenteredIconLabelDescriptionList"/>
    <dgm:cxn modelId="{2B1D17BE-C5FA-4937-8C62-9122B9B7D8DB}" type="presParOf" srcId="{89CA4DF1-6DEC-46E7-A30E-BF028C9D159A}" destId="{D21A7D69-3F13-419E-BAEA-9E0D8B9E14A5}" srcOrd="0" destOrd="0" presId="urn:microsoft.com/office/officeart/2018/5/layout/CenteredIconLabelDescriptionList"/>
    <dgm:cxn modelId="{A21BF194-343D-45D7-9115-CC259AF4C501}" type="presParOf" srcId="{89CA4DF1-6DEC-46E7-A30E-BF028C9D159A}" destId="{9DEC4A0C-440C-4C0E-AAC2-0E5CE840E2BC}" srcOrd="1" destOrd="0" presId="urn:microsoft.com/office/officeart/2018/5/layout/CenteredIconLabelDescriptionList"/>
    <dgm:cxn modelId="{B8361D9B-C641-4C33-B311-F4A91572DD9F}" type="presParOf" srcId="{89CA4DF1-6DEC-46E7-A30E-BF028C9D159A}" destId="{12C21D4B-ED76-4C5D-BD05-03842C87635E}" srcOrd="2" destOrd="0" presId="urn:microsoft.com/office/officeart/2018/5/layout/CenteredIconLabelDescriptionList"/>
    <dgm:cxn modelId="{DAE6D949-461C-464F-8C0B-B7A86DF0DB5F}" type="presParOf" srcId="{89CA4DF1-6DEC-46E7-A30E-BF028C9D159A}" destId="{1872E2C2-298D-4779-97CF-4F92A01E89A6}" srcOrd="3" destOrd="0" presId="urn:microsoft.com/office/officeart/2018/5/layout/CenteredIconLabelDescriptionList"/>
    <dgm:cxn modelId="{761C44F3-A2EE-4C68-9F48-EB9594D2B0D5}" type="presParOf" srcId="{89CA4DF1-6DEC-46E7-A30E-BF028C9D159A}" destId="{9F1B0390-A549-45B5-BB4C-43F9CE46A92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F76BD4-18AD-4539-AD98-B322CBA3988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D176480-3A48-486B-8271-A591AD34EFA4}">
      <dgm:prSet custT="1"/>
      <dgm:spPr/>
      <dgm:t>
        <a:bodyPr/>
        <a:lstStyle/>
        <a:p>
          <a:r>
            <a:rPr lang="en-IN" sz="1800" b="1" dirty="0"/>
            <a:t>Connecting via Cleaned CSV Files</a:t>
          </a:r>
          <a:endParaRPr lang="en-US" sz="1800" dirty="0"/>
        </a:p>
      </dgm:t>
    </dgm:pt>
    <dgm:pt modelId="{F562E769-76A7-46CC-94CA-1878F8BC9A46}" type="parTrans" cxnId="{9E9A37A4-4F72-4B32-ABC6-4EA929E306F4}">
      <dgm:prSet/>
      <dgm:spPr/>
      <dgm:t>
        <a:bodyPr/>
        <a:lstStyle/>
        <a:p>
          <a:endParaRPr lang="en-US"/>
        </a:p>
      </dgm:t>
    </dgm:pt>
    <dgm:pt modelId="{1B80F462-86D6-42C2-9D0B-818A33131E70}" type="sibTrans" cxnId="{9E9A37A4-4F72-4B32-ABC6-4EA929E306F4}">
      <dgm:prSet/>
      <dgm:spPr/>
      <dgm:t>
        <a:bodyPr/>
        <a:lstStyle/>
        <a:p>
          <a:endParaRPr lang="en-US"/>
        </a:p>
      </dgm:t>
    </dgm:pt>
    <dgm:pt modelId="{D8129DF9-1551-4621-8F66-A48B0FB736B6}">
      <dgm:prSet custT="1"/>
      <dgm:spPr/>
      <dgm:t>
        <a:bodyPr/>
        <a:lstStyle/>
        <a:p>
          <a:r>
            <a:rPr lang="en-IN" sz="1800" b="1" dirty="0"/>
            <a:t>Open MySQL Workbench</a:t>
          </a:r>
          <a:r>
            <a:rPr lang="en-IN" sz="1800" dirty="0"/>
            <a:t> → Connect to local MySQL Server</a:t>
          </a:r>
          <a:r>
            <a:rPr lang="en-IN" sz="1300" dirty="0"/>
            <a:t>.</a:t>
          </a:r>
          <a:endParaRPr lang="en-US" sz="1300" dirty="0"/>
        </a:p>
      </dgm:t>
    </dgm:pt>
    <dgm:pt modelId="{9CD5C25A-01AE-4E0C-868F-BCE3D56B2FE8}" type="parTrans" cxnId="{77F3C91A-87BA-4E8A-BF35-54B9714D615E}">
      <dgm:prSet/>
      <dgm:spPr/>
      <dgm:t>
        <a:bodyPr/>
        <a:lstStyle/>
        <a:p>
          <a:endParaRPr lang="en-US"/>
        </a:p>
      </dgm:t>
    </dgm:pt>
    <dgm:pt modelId="{13281E00-E7EE-46D5-B257-19105E7C0EE0}" type="sibTrans" cxnId="{77F3C91A-87BA-4E8A-BF35-54B9714D615E}">
      <dgm:prSet/>
      <dgm:spPr/>
      <dgm:t>
        <a:bodyPr/>
        <a:lstStyle/>
        <a:p>
          <a:endParaRPr lang="en-US"/>
        </a:p>
      </dgm:t>
    </dgm:pt>
    <dgm:pt modelId="{2DFC7A6F-18DE-4239-922F-E9013AF519BD}">
      <dgm:prSet custT="1"/>
      <dgm:spPr/>
      <dgm:t>
        <a:bodyPr/>
        <a:lstStyle/>
        <a:p>
          <a:r>
            <a:rPr lang="en-IN" sz="1800" b="1" dirty="0"/>
            <a:t>Create a new database</a:t>
          </a:r>
          <a:r>
            <a:rPr lang="en-IN" sz="1800" dirty="0"/>
            <a:t> → CREATE DATABASE Northwind;</a:t>
          </a:r>
          <a:endParaRPr lang="en-US" sz="1800" dirty="0"/>
        </a:p>
      </dgm:t>
    </dgm:pt>
    <dgm:pt modelId="{6621422C-9E47-49E8-A9DA-7106AD02142C}" type="parTrans" cxnId="{92C8132F-DDE6-45FA-8E2A-3BFE7156FBF7}">
      <dgm:prSet/>
      <dgm:spPr/>
      <dgm:t>
        <a:bodyPr/>
        <a:lstStyle/>
        <a:p>
          <a:endParaRPr lang="en-US"/>
        </a:p>
      </dgm:t>
    </dgm:pt>
    <dgm:pt modelId="{709D9B6B-B894-48A1-A1CC-769414C0774C}" type="sibTrans" cxnId="{92C8132F-DDE6-45FA-8E2A-3BFE7156FBF7}">
      <dgm:prSet/>
      <dgm:spPr/>
      <dgm:t>
        <a:bodyPr/>
        <a:lstStyle/>
        <a:p>
          <a:endParaRPr lang="en-US"/>
        </a:p>
      </dgm:t>
    </dgm:pt>
    <dgm:pt modelId="{49283368-0E13-4167-B264-5654ABFE158C}">
      <dgm:prSet custT="1"/>
      <dgm:spPr/>
      <dgm:t>
        <a:bodyPr/>
        <a:lstStyle/>
        <a:p>
          <a:r>
            <a:rPr lang="en-IN" sz="1800" b="1" dirty="0"/>
            <a:t>Select the database</a:t>
          </a:r>
          <a:r>
            <a:rPr lang="en-IN" sz="1800" dirty="0"/>
            <a:t> → USE Northwind;</a:t>
          </a:r>
          <a:endParaRPr lang="en-US" sz="1800" dirty="0"/>
        </a:p>
      </dgm:t>
    </dgm:pt>
    <dgm:pt modelId="{0EFA85A3-A8A5-474A-BF64-FFACC7B5B724}" type="parTrans" cxnId="{B8571C10-3ED5-4C34-AB61-A004C3E4B4F0}">
      <dgm:prSet/>
      <dgm:spPr/>
      <dgm:t>
        <a:bodyPr/>
        <a:lstStyle/>
        <a:p>
          <a:endParaRPr lang="en-US"/>
        </a:p>
      </dgm:t>
    </dgm:pt>
    <dgm:pt modelId="{C8412A2D-27CE-4565-9D82-860806A464C7}" type="sibTrans" cxnId="{B8571C10-3ED5-4C34-AB61-A004C3E4B4F0}">
      <dgm:prSet/>
      <dgm:spPr/>
      <dgm:t>
        <a:bodyPr/>
        <a:lstStyle/>
        <a:p>
          <a:endParaRPr lang="en-US"/>
        </a:p>
      </dgm:t>
    </dgm:pt>
    <dgm:pt modelId="{08C712F1-AA70-4E74-BCFB-981E7459D01D}">
      <dgm:prSet custT="1"/>
      <dgm:spPr/>
      <dgm:t>
        <a:bodyPr/>
        <a:lstStyle/>
        <a:p>
          <a:r>
            <a:rPr lang="en-IN" sz="1800" b="1" dirty="0"/>
            <a:t>Import cleaned data files (CSV)</a:t>
          </a:r>
          <a:endParaRPr lang="en-US" sz="1800" dirty="0"/>
        </a:p>
      </dgm:t>
    </dgm:pt>
    <dgm:pt modelId="{8534ACD0-163C-4ED7-80E7-7C1DB1F336D9}" type="parTrans" cxnId="{6288CF0F-8B7B-43EE-B85B-3936889A207C}">
      <dgm:prSet/>
      <dgm:spPr/>
      <dgm:t>
        <a:bodyPr/>
        <a:lstStyle/>
        <a:p>
          <a:endParaRPr lang="en-US"/>
        </a:p>
      </dgm:t>
    </dgm:pt>
    <dgm:pt modelId="{316B4ABF-4BF2-4969-845B-E2B34C7DEEB3}" type="sibTrans" cxnId="{6288CF0F-8B7B-43EE-B85B-3936889A207C}">
      <dgm:prSet/>
      <dgm:spPr/>
      <dgm:t>
        <a:bodyPr/>
        <a:lstStyle/>
        <a:p>
          <a:endParaRPr lang="en-US"/>
        </a:p>
      </dgm:t>
    </dgm:pt>
    <dgm:pt modelId="{C837F040-27B1-4949-8EEB-1B0BEA227100}">
      <dgm:prSet custT="1"/>
      <dgm:spPr/>
      <dgm:t>
        <a:bodyPr/>
        <a:lstStyle/>
        <a:p>
          <a:r>
            <a:rPr lang="en-IN" sz="1800" dirty="0"/>
            <a:t>The data was </a:t>
          </a:r>
          <a:r>
            <a:rPr lang="en-IN" sz="1800" b="1" dirty="0"/>
            <a:t>cleaned and formatted in Excel using Power Query</a:t>
          </a:r>
          <a:r>
            <a:rPr lang="en-IN" sz="1800" dirty="0"/>
            <a:t> (removing nulls, correcting data types, standardizing formats</a:t>
          </a:r>
          <a:r>
            <a:rPr lang="en-IN" sz="1400" dirty="0"/>
            <a:t>).</a:t>
          </a:r>
          <a:endParaRPr lang="en-US" sz="1400" dirty="0"/>
        </a:p>
      </dgm:t>
    </dgm:pt>
    <dgm:pt modelId="{3DC22588-673A-4425-9DDD-477B5865F61B}" type="parTrans" cxnId="{C7E3A1B4-4543-446A-A238-181121429C38}">
      <dgm:prSet/>
      <dgm:spPr/>
      <dgm:t>
        <a:bodyPr/>
        <a:lstStyle/>
        <a:p>
          <a:endParaRPr lang="en-US"/>
        </a:p>
      </dgm:t>
    </dgm:pt>
    <dgm:pt modelId="{9AD81702-E989-4165-90C9-A554BE7A3468}" type="sibTrans" cxnId="{C7E3A1B4-4543-446A-A238-181121429C38}">
      <dgm:prSet/>
      <dgm:spPr/>
      <dgm:t>
        <a:bodyPr/>
        <a:lstStyle/>
        <a:p>
          <a:endParaRPr lang="en-US"/>
        </a:p>
      </dgm:t>
    </dgm:pt>
    <dgm:pt modelId="{BC5A8C63-AC0C-431B-A421-0F02A24D4BF0}">
      <dgm:prSet custT="1"/>
      <dgm:spPr/>
      <dgm:t>
        <a:bodyPr/>
        <a:lstStyle/>
        <a:p>
          <a:r>
            <a:rPr lang="en-IN" sz="1800" dirty="0"/>
            <a:t>Go to </a:t>
          </a:r>
          <a:r>
            <a:rPr lang="en-IN" sz="1800" b="1" dirty="0"/>
            <a:t>Server → Data Import → Table Data Import Wizard</a:t>
          </a:r>
          <a:r>
            <a:rPr lang="en-IN" sz="1800" dirty="0"/>
            <a:t> and select the cleaned CSV files (e.g., Customers.csv, Orders.csv, Products.csv).</a:t>
          </a:r>
          <a:endParaRPr lang="en-US" sz="1800" dirty="0"/>
        </a:p>
      </dgm:t>
    </dgm:pt>
    <dgm:pt modelId="{330C010A-1068-4111-B97C-C6DE20F36062}" type="parTrans" cxnId="{99B2984A-708E-4945-912A-666D60D1EF2B}">
      <dgm:prSet/>
      <dgm:spPr/>
      <dgm:t>
        <a:bodyPr/>
        <a:lstStyle/>
        <a:p>
          <a:endParaRPr lang="en-US"/>
        </a:p>
      </dgm:t>
    </dgm:pt>
    <dgm:pt modelId="{F0BC3CE1-3753-474D-B2AC-F754774B0FE6}" type="sibTrans" cxnId="{99B2984A-708E-4945-912A-666D60D1EF2B}">
      <dgm:prSet/>
      <dgm:spPr/>
      <dgm:t>
        <a:bodyPr/>
        <a:lstStyle/>
        <a:p>
          <a:endParaRPr lang="en-US"/>
        </a:p>
      </dgm:t>
    </dgm:pt>
    <dgm:pt modelId="{2F65DF55-2D41-4E13-B541-186F200B5173}">
      <dgm:prSet custT="1"/>
      <dgm:spPr/>
      <dgm:t>
        <a:bodyPr/>
        <a:lstStyle/>
        <a:p>
          <a:r>
            <a:rPr lang="en-IN" sz="1800" b="1" dirty="0"/>
            <a:t>Map columns properly</a:t>
          </a:r>
          <a:r>
            <a:rPr lang="en-IN" sz="1800" dirty="0"/>
            <a:t> and ensure correct data types (e.g., INT, VARCHAR, DATE, DECIMAL).</a:t>
          </a:r>
          <a:endParaRPr lang="en-US" sz="1800" dirty="0"/>
        </a:p>
      </dgm:t>
    </dgm:pt>
    <dgm:pt modelId="{436B75B9-6203-4FE5-AEA1-219B9523D8CF}" type="parTrans" cxnId="{199D9369-2F0F-4908-893E-4BEDA7A0D34B}">
      <dgm:prSet/>
      <dgm:spPr/>
      <dgm:t>
        <a:bodyPr/>
        <a:lstStyle/>
        <a:p>
          <a:endParaRPr lang="en-US"/>
        </a:p>
      </dgm:t>
    </dgm:pt>
    <dgm:pt modelId="{79D4A613-5B8F-48E0-8905-3B742D3F34BA}" type="sibTrans" cxnId="{199D9369-2F0F-4908-893E-4BEDA7A0D34B}">
      <dgm:prSet/>
      <dgm:spPr/>
      <dgm:t>
        <a:bodyPr/>
        <a:lstStyle/>
        <a:p>
          <a:endParaRPr lang="en-US"/>
        </a:p>
      </dgm:t>
    </dgm:pt>
    <dgm:pt modelId="{ED5923C3-CE30-4AD1-94CE-A6B039175E9A}" type="pres">
      <dgm:prSet presAssocID="{BEF76BD4-18AD-4539-AD98-B322CBA3988E}" presName="Name0" presStyleCnt="0">
        <dgm:presLayoutVars>
          <dgm:dir/>
          <dgm:resizeHandles val="exact"/>
        </dgm:presLayoutVars>
      </dgm:prSet>
      <dgm:spPr/>
    </dgm:pt>
    <dgm:pt modelId="{E09C4C45-88C0-472A-909D-3F43735E37A7}" type="pres">
      <dgm:prSet presAssocID="{8D176480-3A48-486B-8271-A591AD34EFA4}" presName="node" presStyleLbl="node1" presStyleIdx="0" presStyleCnt="8">
        <dgm:presLayoutVars>
          <dgm:bulletEnabled val="1"/>
        </dgm:presLayoutVars>
      </dgm:prSet>
      <dgm:spPr/>
    </dgm:pt>
    <dgm:pt modelId="{FA6557B6-6967-4F03-B1CE-590A4596A88F}" type="pres">
      <dgm:prSet presAssocID="{1B80F462-86D6-42C2-9D0B-818A33131E70}" presName="sibTrans" presStyleLbl="sibTrans1D1" presStyleIdx="0" presStyleCnt="7"/>
      <dgm:spPr/>
    </dgm:pt>
    <dgm:pt modelId="{54492417-ACE7-4D9A-8AAD-70D9FF8A3B80}" type="pres">
      <dgm:prSet presAssocID="{1B80F462-86D6-42C2-9D0B-818A33131E70}" presName="connectorText" presStyleLbl="sibTrans1D1" presStyleIdx="0" presStyleCnt="7"/>
      <dgm:spPr/>
    </dgm:pt>
    <dgm:pt modelId="{66EB96CF-D78D-4676-8E2F-FA52E1252DF3}" type="pres">
      <dgm:prSet presAssocID="{D8129DF9-1551-4621-8F66-A48B0FB736B6}" presName="node" presStyleLbl="node1" presStyleIdx="1" presStyleCnt="8" custLinFactNeighborX="-464">
        <dgm:presLayoutVars>
          <dgm:bulletEnabled val="1"/>
        </dgm:presLayoutVars>
      </dgm:prSet>
      <dgm:spPr/>
    </dgm:pt>
    <dgm:pt modelId="{7EBC9EDD-F914-4A28-AF0B-D21B05118FF2}" type="pres">
      <dgm:prSet presAssocID="{13281E00-E7EE-46D5-B257-19105E7C0EE0}" presName="sibTrans" presStyleLbl="sibTrans1D1" presStyleIdx="1" presStyleCnt="7"/>
      <dgm:spPr/>
    </dgm:pt>
    <dgm:pt modelId="{60795F29-094B-464B-A49A-06D9DC2F6471}" type="pres">
      <dgm:prSet presAssocID="{13281E00-E7EE-46D5-B257-19105E7C0EE0}" presName="connectorText" presStyleLbl="sibTrans1D1" presStyleIdx="1" presStyleCnt="7"/>
      <dgm:spPr/>
    </dgm:pt>
    <dgm:pt modelId="{72673969-6037-410A-BE1E-CBAD66FAAC39}" type="pres">
      <dgm:prSet presAssocID="{2DFC7A6F-18DE-4239-922F-E9013AF519BD}" presName="node" presStyleLbl="node1" presStyleIdx="2" presStyleCnt="8">
        <dgm:presLayoutVars>
          <dgm:bulletEnabled val="1"/>
        </dgm:presLayoutVars>
      </dgm:prSet>
      <dgm:spPr/>
    </dgm:pt>
    <dgm:pt modelId="{FF208BE8-9BA6-4A17-8F33-A806D7DE7613}" type="pres">
      <dgm:prSet presAssocID="{709D9B6B-B894-48A1-A1CC-769414C0774C}" presName="sibTrans" presStyleLbl="sibTrans1D1" presStyleIdx="2" presStyleCnt="7"/>
      <dgm:spPr/>
    </dgm:pt>
    <dgm:pt modelId="{1DB9230A-4C65-4916-8762-6F4BDD2131D0}" type="pres">
      <dgm:prSet presAssocID="{709D9B6B-B894-48A1-A1CC-769414C0774C}" presName="connectorText" presStyleLbl="sibTrans1D1" presStyleIdx="2" presStyleCnt="7"/>
      <dgm:spPr/>
    </dgm:pt>
    <dgm:pt modelId="{EA5A6CA4-0006-4DD4-B60C-F08F408E6F57}" type="pres">
      <dgm:prSet presAssocID="{49283368-0E13-4167-B264-5654ABFE158C}" presName="node" presStyleLbl="node1" presStyleIdx="3" presStyleCnt="8">
        <dgm:presLayoutVars>
          <dgm:bulletEnabled val="1"/>
        </dgm:presLayoutVars>
      </dgm:prSet>
      <dgm:spPr/>
    </dgm:pt>
    <dgm:pt modelId="{5A521771-0000-4FCE-9871-9781CC49A026}" type="pres">
      <dgm:prSet presAssocID="{C8412A2D-27CE-4565-9D82-860806A464C7}" presName="sibTrans" presStyleLbl="sibTrans1D1" presStyleIdx="3" presStyleCnt="7"/>
      <dgm:spPr/>
    </dgm:pt>
    <dgm:pt modelId="{71932E5C-BAB8-4380-A53D-BC7092E0399B}" type="pres">
      <dgm:prSet presAssocID="{C8412A2D-27CE-4565-9D82-860806A464C7}" presName="connectorText" presStyleLbl="sibTrans1D1" presStyleIdx="3" presStyleCnt="7"/>
      <dgm:spPr/>
    </dgm:pt>
    <dgm:pt modelId="{E0E29B79-454D-4528-B2EF-0DADD6C4156A}" type="pres">
      <dgm:prSet presAssocID="{08C712F1-AA70-4E74-BCFB-981E7459D01D}" presName="node" presStyleLbl="node1" presStyleIdx="4" presStyleCnt="8">
        <dgm:presLayoutVars>
          <dgm:bulletEnabled val="1"/>
        </dgm:presLayoutVars>
      </dgm:prSet>
      <dgm:spPr/>
    </dgm:pt>
    <dgm:pt modelId="{44D7B79A-C296-4495-BC2B-C32977122572}" type="pres">
      <dgm:prSet presAssocID="{316B4ABF-4BF2-4969-845B-E2B34C7DEEB3}" presName="sibTrans" presStyleLbl="sibTrans1D1" presStyleIdx="4" presStyleCnt="7"/>
      <dgm:spPr/>
    </dgm:pt>
    <dgm:pt modelId="{1F95F919-7AF9-48B4-8E0F-81838E0F6C09}" type="pres">
      <dgm:prSet presAssocID="{316B4ABF-4BF2-4969-845B-E2B34C7DEEB3}" presName="connectorText" presStyleLbl="sibTrans1D1" presStyleIdx="4" presStyleCnt="7"/>
      <dgm:spPr/>
    </dgm:pt>
    <dgm:pt modelId="{983CB600-D731-4114-8F03-BD751080090B}" type="pres">
      <dgm:prSet presAssocID="{C837F040-27B1-4949-8EEB-1B0BEA227100}" presName="node" presStyleLbl="node1" presStyleIdx="5" presStyleCnt="8" custScaleY="170933">
        <dgm:presLayoutVars>
          <dgm:bulletEnabled val="1"/>
        </dgm:presLayoutVars>
      </dgm:prSet>
      <dgm:spPr/>
    </dgm:pt>
    <dgm:pt modelId="{F5EA4BEE-DE81-44F7-9355-2BF14BC4C921}" type="pres">
      <dgm:prSet presAssocID="{9AD81702-E989-4165-90C9-A554BE7A3468}" presName="sibTrans" presStyleLbl="sibTrans1D1" presStyleIdx="5" presStyleCnt="7"/>
      <dgm:spPr/>
    </dgm:pt>
    <dgm:pt modelId="{659FB749-2B0E-4851-B714-92F76F1856D9}" type="pres">
      <dgm:prSet presAssocID="{9AD81702-E989-4165-90C9-A554BE7A3468}" presName="connectorText" presStyleLbl="sibTrans1D1" presStyleIdx="5" presStyleCnt="7"/>
      <dgm:spPr/>
    </dgm:pt>
    <dgm:pt modelId="{8E561BCC-8C04-462F-8149-44826AAE5CCD}" type="pres">
      <dgm:prSet presAssocID="{BC5A8C63-AC0C-431B-A421-0F02A24D4BF0}" presName="node" presStyleLbl="node1" presStyleIdx="6" presStyleCnt="8" custScaleY="180214">
        <dgm:presLayoutVars>
          <dgm:bulletEnabled val="1"/>
        </dgm:presLayoutVars>
      </dgm:prSet>
      <dgm:spPr/>
    </dgm:pt>
    <dgm:pt modelId="{91625898-1894-4EB1-8828-E00244B5FDCF}" type="pres">
      <dgm:prSet presAssocID="{F0BC3CE1-3753-474D-B2AC-F754774B0FE6}" presName="sibTrans" presStyleLbl="sibTrans1D1" presStyleIdx="6" presStyleCnt="7"/>
      <dgm:spPr/>
    </dgm:pt>
    <dgm:pt modelId="{65458A76-4A8A-4A52-80A0-0435EFD5891C}" type="pres">
      <dgm:prSet presAssocID="{F0BC3CE1-3753-474D-B2AC-F754774B0FE6}" presName="connectorText" presStyleLbl="sibTrans1D1" presStyleIdx="6" presStyleCnt="7"/>
      <dgm:spPr/>
    </dgm:pt>
    <dgm:pt modelId="{638D5723-F00A-4E2F-9975-F89F67FD86DC}" type="pres">
      <dgm:prSet presAssocID="{2F65DF55-2D41-4E13-B541-186F200B5173}" presName="node" presStyleLbl="node1" presStyleIdx="7" presStyleCnt="8" custScaleY="184859">
        <dgm:presLayoutVars>
          <dgm:bulletEnabled val="1"/>
        </dgm:presLayoutVars>
      </dgm:prSet>
      <dgm:spPr/>
    </dgm:pt>
  </dgm:ptLst>
  <dgm:cxnLst>
    <dgm:cxn modelId="{6288CF0F-8B7B-43EE-B85B-3936889A207C}" srcId="{BEF76BD4-18AD-4539-AD98-B322CBA3988E}" destId="{08C712F1-AA70-4E74-BCFB-981E7459D01D}" srcOrd="4" destOrd="0" parTransId="{8534ACD0-163C-4ED7-80E7-7C1DB1F336D9}" sibTransId="{316B4ABF-4BF2-4969-845B-E2B34C7DEEB3}"/>
    <dgm:cxn modelId="{B8571C10-3ED5-4C34-AB61-A004C3E4B4F0}" srcId="{BEF76BD4-18AD-4539-AD98-B322CBA3988E}" destId="{49283368-0E13-4167-B264-5654ABFE158C}" srcOrd="3" destOrd="0" parTransId="{0EFA85A3-A8A5-474A-BF64-FFACC7B5B724}" sibTransId="{C8412A2D-27CE-4565-9D82-860806A464C7}"/>
    <dgm:cxn modelId="{1CD17118-A497-4FF1-AC31-757930E978BB}" type="presOf" srcId="{9AD81702-E989-4165-90C9-A554BE7A3468}" destId="{659FB749-2B0E-4851-B714-92F76F1856D9}" srcOrd="1" destOrd="0" presId="urn:microsoft.com/office/officeart/2016/7/layout/RepeatingBendingProcessNew"/>
    <dgm:cxn modelId="{77F3C91A-87BA-4E8A-BF35-54B9714D615E}" srcId="{BEF76BD4-18AD-4539-AD98-B322CBA3988E}" destId="{D8129DF9-1551-4621-8F66-A48B0FB736B6}" srcOrd="1" destOrd="0" parTransId="{9CD5C25A-01AE-4E0C-868F-BCE3D56B2FE8}" sibTransId="{13281E00-E7EE-46D5-B257-19105E7C0EE0}"/>
    <dgm:cxn modelId="{F54C461B-EF19-4350-8FA2-7BBDFD8F5B98}" type="presOf" srcId="{9AD81702-E989-4165-90C9-A554BE7A3468}" destId="{F5EA4BEE-DE81-44F7-9355-2BF14BC4C921}" srcOrd="0" destOrd="0" presId="urn:microsoft.com/office/officeart/2016/7/layout/RepeatingBendingProcessNew"/>
    <dgm:cxn modelId="{0726FD21-73BF-42C3-BC39-FCFE97D350B2}" type="presOf" srcId="{BC5A8C63-AC0C-431B-A421-0F02A24D4BF0}" destId="{8E561BCC-8C04-462F-8149-44826AAE5CCD}" srcOrd="0" destOrd="0" presId="urn:microsoft.com/office/officeart/2016/7/layout/RepeatingBendingProcessNew"/>
    <dgm:cxn modelId="{FC8E5623-07F6-4B09-BE35-3ACA85C36E93}" type="presOf" srcId="{709D9B6B-B894-48A1-A1CC-769414C0774C}" destId="{FF208BE8-9BA6-4A17-8F33-A806D7DE7613}" srcOrd="0" destOrd="0" presId="urn:microsoft.com/office/officeart/2016/7/layout/RepeatingBendingProcessNew"/>
    <dgm:cxn modelId="{98A1C12B-FF6B-4A53-B574-45A6F5A0F8CB}" type="presOf" srcId="{C8412A2D-27CE-4565-9D82-860806A464C7}" destId="{71932E5C-BAB8-4380-A53D-BC7092E0399B}" srcOrd="1" destOrd="0" presId="urn:microsoft.com/office/officeart/2016/7/layout/RepeatingBendingProcessNew"/>
    <dgm:cxn modelId="{92C8132F-DDE6-45FA-8E2A-3BFE7156FBF7}" srcId="{BEF76BD4-18AD-4539-AD98-B322CBA3988E}" destId="{2DFC7A6F-18DE-4239-922F-E9013AF519BD}" srcOrd="2" destOrd="0" parTransId="{6621422C-9E47-49E8-A9DA-7106AD02142C}" sibTransId="{709D9B6B-B894-48A1-A1CC-769414C0774C}"/>
    <dgm:cxn modelId="{06020D41-4D0D-4717-974F-AF697B3ED7A5}" type="presOf" srcId="{8D176480-3A48-486B-8271-A591AD34EFA4}" destId="{E09C4C45-88C0-472A-909D-3F43735E37A7}" srcOrd="0" destOrd="0" presId="urn:microsoft.com/office/officeart/2016/7/layout/RepeatingBendingProcessNew"/>
    <dgm:cxn modelId="{B3B58667-BE58-42E7-9F87-1DD10DE82CD9}" type="presOf" srcId="{F0BC3CE1-3753-474D-B2AC-F754774B0FE6}" destId="{65458A76-4A8A-4A52-80A0-0435EFD5891C}" srcOrd="1" destOrd="0" presId="urn:microsoft.com/office/officeart/2016/7/layout/RepeatingBendingProcessNew"/>
    <dgm:cxn modelId="{199D9369-2F0F-4908-893E-4BEDA7A0D34B}" srcId="{BEF76BD4-18AD-4539-AD98-B322CBA3988E}" destId="{2F65DF55-2D41-4E13-B541-186F200B5173}" srcOrd="7" destOrd="0" parTransId="{436B75B9-6203-4FE5-AEA1-219B9523D8CF}" sibTransId="{79D4A613-5B8F-48E0-8905-3B742D3F34BA}"/>
    <dgm:cxn modelId="{99B2984A-708E-4945-912A-666D60D1EF2B}" srcId="{BEF76BD4-18AD-4539-AD98-B322CBA3988E}" destId="{BC5A8C63-AC0C-431B-A421-0F02A24D4BF0}" srcOrd="6" destOrd="0" parTransId="{330C010A-1068-4111-B97C-C6DE20F36062}" sibTransId="{F0BC3CE1-3753-474D-B2AC-F754774B0FE6}"/>
    <dgm:cxn modelId="{3D81866C-A993-49A8-92F4-8092812390DA}" type="presOf" srcId="{316B4ABF-4BF2-4969-845B-E2B34C7DEEB3}" destId="{44D7B79A-C296-4495-BC2B-C32977122572}" srcOrd="0" destOrd="0" presId="urn:microsoft.com/office/officeart/2016/7/layout/RepeatingBendingProcessNew"/>
    <dgm:cxn modelId="{B1956D53-9492-421C-8127-D1E1B404315A}" type="presOf" srcId="{1B80F462-86D6-42C2-9D0B-818A33131E70}" destId="{FA6557B6-6967-4F03-B1CE-590A4596A88F}" srcOrd="0" destOrd="0" presId="urn:microsoft.com/office/officeart/2016/7/layout/RepeatingBendingProcessNew"/>
    <dgm:cxn modelId="{96A8AD7D-06FC-4209-9FEF-5BFB276C51B9}" type="presOf" srcId="{13281E00-E7EE-46D5-B257-19105E7C0EE0}" destId="{7EBC9EDD-F914-4A28-AF0B-D21B05118FF2}" srcOrd="0" destOrd="0" presId="urn:microsoft.com/office/officeart/2016/7/layout/RepeatingBendingProcessNew"/>
    <dgm:cxn modelId="{E44A9C94-D1FA-4273-A4AC-8C4D94C5523A}" type="presOf" srcId="{1B80F462-86D6-42C2-9D0B-818A33131E70}" destId="{54492417-ACE7-4D9A-8AAD-70D9FF8A3B80}" srcOrd="1" destOrd="0" presId="urn:microsoft.com/office/officeart/2016/7/layout/RepeatingBendingProcessNew"/>
    <dgm:cxn modelId="{BD977996-CBE6-414B-8D0D-9EBBACBD096D}" type="presOf" srcId="{2DFC7A6F-18DE-4239-922F-E9013AF519BD}" destId="{72673969-6037-410A-BE1E-CBAD66FAAC39}" srcOrd="0" destOrd="0" presId="urn:microsoft.com/office/officeart/2016/7/layout/RepeatingBendingProcessNew"/>
    <dgm:cxn modelId="{1212909E-8E68-45D6-982F-EFDA414588AA}" type="presOf" srcId="{49283368-0E13-4167-B264-5654ABFE158C}" destId="{EA5A6CA4-0006-4DD4-B60C-F08F408E6F57}" srcOrd="0" destOrd="0" presId="urn:microsoft.com/office/officeart/2016/7/layout/RepeatingBendingProcessNew"/>
    <dgm:cxn modelId="{74B7409F-3CFF-49A3-A306-9B277CBD2376}" type="presOf" srcId="{709D9B6B-B894-48A1-A1CC-769414C0774C}" destId="{1DB9230A-4C65-4916-8762-6F4BDD2131D0}" srcOrd="1" destOrd="0" presId="urn:microsoft.com/office/officeart/2016/7/layout/RepeatingBendingProcessNew"/>
    <dgm:cxn modelId="{9E9A37A4-4F72-4B32-ABC6-4EA929E306F4}" srcId="{BEF76BD4-18AD-4539-AD98-B322CBA3988E}" destId="{8D176480-3A48-486B-8271-A591AD34EFA4}" srcOrd="0" destOrd="0" parTransId="{F562E769-76A7-46CC-94CA-1878F8BC9A46}" sibTransId="{1B80F462-86D6-42C2-9D0B-818A33131E70}"/>
    <dgm:cxn modelId="{BD883DA8-9EDD-47D6-9EEA-7496A2B35738}" type="presOf" srcId="{F0BC3CE1-3753-474D-B2AC-F754774B0FE6}" destId="{91625898-1894-4EB1-8828-E00244B5FDCF}" srcOrd="0" destOrd="0" presId="urn:microsoft.com/office/officeart/2016/7/layout/RepeatingBendingProcessNew"/>
    <dgm:cxn modelId="{06CE2EAC-3AD5-494A-8134-3BD6D345101F}" type="presOf" srcId="{08C712F1-AA70-4E74-BCFB-981E7459D01D}" destId="{E0E29B79-454D-4528-B2EF-0DADD6C4156A}" srcOrd="0" destOrd="0" presId="urn:microsoft.com/office/officeart/2016/7/layout/RepeatingBendingProcessNew"/>
    <dgm:cxn modelId="{C7E3A1B4-4543-446A-A238-181121429C38}" srcId="{BEF76BD4-18AD-4539-AD98-B322CBA3988E}" destId="{C837F040-27B1-4949-8EEB-1B0BEA227100}" srcOrd="5" destOrd="0" parTransId="{3DC22588-673A-4425-9DDD-477B5865F61B}" sibTransId="{9AD81702-E989-4165-90C9-A554BE7A3468}"/>
    <dgm:cxn modelId="{7714E5C1-44E1-4604-B63D-29BBA8B5DA7A}" type="presOf" srcId="{C8412A2D-27CE-4565-9D82-860806A464C7}" destId="{5A521771-0000-4FCE-9871-9781CC49A026}" srcOrd="0" destOrd="0" presId="urn:microsoft.com/office/officeart/2016/7/layout/RepeatingBendingProcessNew"/>
    <dgm:cxn modelId="{EB7A0DD4-A67F-4871-B63D-09ABCABEAAE4}" type="presOf" srcId="{C837F040-27B1-4949-8EEB-1B0BEA227100}" destId="{983CB600-D731-4114-8F03-BD751080090B}" srcOrd="0" destOrd="0" presId="urn:microsoft.com/office/officeart/2016/7/layout/RepeatingBendingProcessNew"/>
    <dgm:cxn modelId="{897155E8-2A53-4A01-822D-AC36D374E326}" type="presOf" srcId="{13281E00-E7EE-46D5-B257-19105E7C0EE0}" destId="{60795F29-094B-464B-A49A-06D9DC2F6471}" srcOrd="1" destOrd="0" presId="urn:microsoft.com/office/officeart/2016/7/layout/RepeatingBendingProcessNew"/>
    <dgm:cxn modelId="{3F5363EA-E159-4914-B660-154D436EA8FC}" type="presOf" srcId="{2F65DF55-2D41-4E13-B541-186F200B5173}" destId="{638D5723-F00A-4E2F-9975-F89F67FD86DC}" srcOrd="0" destOrd="0" presId="urn:microsoft.com/office/officeart/2016/7/layout/RepeatingBendingProcessNew"/>
    <dgm:cxn modelId="{9485EDED-E2FA-4D07-9D53-2D37C316CB1A}" type="presOf" srcId="{316B4ABF-4BF2-4969-845B-E2B34C7DEEB3}" destId="{1F95F919-7AF9-48B4-8E0F-81838E0F6C09}" srcOrd="1" destOrd="0" presId="urn:microsoft.com/office/officeart/2016/7/layout/RepeatingBendingProcessNew"/>
    <dgm:cxn modelId="{76A38EEE-009A-4750-A0BB-1286C003DEB9}" type="presOf" srcId="{D8129DF9-1551-4621-8F66-A48B0FB736B6}" destId="{66EB96CF-D78D-4676-8E2F-FA52E1252DF3}" srcOrd="0" destOrd="0" presId="urn:microsoft.com/office/officeart/2016/7/layout/RepeatingBendingProcessNew"/>
    <dgm:cxn modelId="{DC82EEFB-2A59-4C70-9C84-A1ACB0153F18}" type="presOf" srcId="{BEF76BD4-18AD-4539-AD98-B322CBA3988E}" destId="{ED5923C3-CE30-4AD1-94CE-A6B039175E9A}" srcOrd="0" destOrd="0" presId="urn:microsoft.com/office/officeart/2016/7/layout/RepeatingBendingProcessNew"/>
    <dgm:cxn modelId="{72A27DEC-BBF0-463D-9D8F-499CE7E99820}" type="presParOf" srcId="{ED5923C3-CE30-4AD1-94CE-A6B039175E9A}" destId="{E09C4C45-88C0-472A-909D-3F43735E37A7}" srcOrd="0" destOrd="0" presId="urn:microsoft.com/office/officeart/2016/7/layout/RepeatingBendingProcessNew"/>
    <dgm:cxn modelId="{A86F205F-60B7-4300-8BC8-59E6ECA79405}" type="presParOf" srcId="{ED5923C3-CE30-4AD1-94CE-A6B039175E9A}" destId="{FA6557B6-6967-4F03-B1CE-590A4596A88F}" srcOrd="1" destOrd="0" presId="urn:microsoft.com/office/officeart/2016/7/layout/RepeatingBendingProcessNew"/>
    <dgm:cxn modelId="{0EE2FAB9-F371-4A69-A0B5-3773D1B361D4}" type="presParOf" srcId="{FA6557B6-6967-4F03-B1CE-590A4596A88F}" destId="{54492417-ACE7-4D9A-8AAD-70D9FF8A3B80}" srcOrd="0" destOrd="0" presId="urn:microsoft.com/office/officeart/2016/7/layout/RepeatingBendingProcessNew"/>
    <dgm:cxn modelId="{06BC975F-B7C6-40A4-86F6-1A3D972796AF}" type="presParOf" srcId="{ED5923C3-CE30-4AD1-94CE-A6B039175E9A}" destId="{66EB96CF-D78D-4676-8E2F-FA52E1252DF3}" srcOrd="2" destOrd="0" presId="urn:microsoft.com/office/officeart/2016/7/layout/RepeatingBendingProcessNew"/>
    <dgm:cxn modelId="{5767778A-CAB7-459A-9D63-F316B98FA7C4}" type="presParOf" srcId="{ED5923C3-CE30-4AD1-94CE-A6B039175E9A}" destId="{7EBC9EDD-F914-4A28-AF0B-D21B05118FF2}" srcOrd="3" destOrd="0" presId="urn:microsoft.com/office/officeart/2016/7/layout/RepeatingBendingProcessNew"/>
    <dgm:cxn modelId="{72E04D16-B7A8-48BA-A499-A295F17F3C01}" type="presParOf" srcId="{7EBC9EDD-F914-4A28-AF0B-D21B05118FF2}" destId="{60795F29-094B-464B-A49A-06D9DC2F6471}" srcOrd="0" destOrd="0" presId="urn:microsoft.com/office/officeart/2016/7/layout/RepeatingBendingProcessNew"/>
    <dgm:cxn modelId="{922D10E3-FEBA-43F2-8801-5F27EA7E50E5}" type="presParOf" srcId="{ED5923C3-CE30-4AD1-94CE-A6B039175E9A}" destId="{72673969-6037-410A-BE1E-CBAD66FAAC39}" srcOrd="4" destOrd="0" presId="urn:microsoft.com/office/officeart/2016/7/layout/RepeatingBendingProcessNew"/>
    <dgm:cxn modelId="{C148F554-F2DF-4E3F-ABF7-F48202D42767}" type="presParOf" srcId="{ED5923C3-CE30-4AD1-94CE-A6B039175E9A}" destId="{FF208BE8-9BA6-4A17-8F33-A806D7DE7613}" srcOrd="5" destOrd="0" presId="urn:microsoft.com/office/officeart/2016/7/layout/RepeatingBendingProcessNew"/>
    <dgm:cxn modelId="{C40470F2-A2A0-4AE6-B935-5F9D637B778E}" type="presParOf" srcId="{FF208BE8-9BA6-4A17-8F33-A806D7DE7613}" destId="{1DB9230A-4C65-4916-8762-6F4BDD2131D0}" srcOrd="0" destOrd="0" presId="urn:microsoft.com/office/officeart/2016/7/layout/RepeatingBendingProcessNew"/>
    <dgm:cxn modelId="{C077DEB8-343D-4B6E-91E1-DC19D5B1D8A9}" type="presParOf" srcId="{ED5923C3-CE30-4AD1-94CE-A6B039175E9A}" destId="{EA5A6CA4-0006-4DD4-B60C-F08F408E6F57}" srcOrd="6" destOrd="0" presId="urn:microsoft.com/office/officeart/2016/7/layout/RepeatingBendingProcessNew"/>
    <dgm:cxn modelId="{68A1071F-62F6-45FD-84B2-3CB0B8046630}" type="presParOf" srcId="{ED5923C3-CE30-4AD1-94CE-A6B039175E9A}" destId="{5A521771-0000-4FCE-9871-9781CC49A026}" srcOrd="7" destOrd="0" presId="urn:microsoft.com/office/officeart/2016/7/layout/RepeatingBendingProcessNew"/>
    <dgm:cxn modelId="{E416521E-207F-4369-8E5E-DF6CC7122445}" type="presParOf" srcId="{5A521771-0000-4FCE-9871-9781CC49A026}" destId="{71932E5C-BAB8-4380-A53D-BC7092E0399B}" srcOrd="0" destOrd="0" presId="urn:microsoft.com/office/officeart/2016/7/layout/RepeatingBendingProcessNew"/>
    <dgm:cxn modelId="{EEE2BC6F-930E-4B7E-9ECA-BAD6C3ECD48B}" type="presParOf" srcId="{ED5923C3-CE30-4AD1-94CE-A6B039175E9A}" destId="{E0E29B79-454D-4528-B2EF-0DADD6C4156A}" srcOrd="8" destOrd="0" presId="urn:microsoft.com/office/officeart/2016/7/layout/RepeatingBendingProcessNew"/>
    <dgm:cxn modelId="{985DCFA4-E582-4B8F-9E25-C95BA83218B5}" type="presParOf" srcId="{ED5923C3-CE30-4AD1-94CE-A6B039175E9A}" destId="{44D7B79A-C296-4495-BC2B-C32977122572}" srcOrd="9" destOrd="0" presId="urn:microsoft.com/office/officeart/2016/7/layout/RepeatingBendingProcessNew"/>
    <dgm:cxn modelId="{746D00D8-7B88-461A-A77F-AE48B34CAACA}" type="presParOf" srcId="{44D7B79A-C296-4495-BC2B-C32977122572}" destId="{1F95F919-7AF9-48B4-8E0F-81838E0F6C09}" srcOrd="0" destOrd="0" presId="urn:microsoft.com/office/officeart/2016/7/layout/RepeatingBendingProcessNew"/>
    <dgm:cxn modelId="{2F953E0A-E036-4A96-9D07-29648728010E}" type="presParOf" srcId="{ED5923C3-CE30-4AD1-94CE-A6B039175E9A}" destId="{983CB600-D731-4114-8F03-BD751080090B}" srcOrd="10" destOrd="0" presId="urn:microsoft.com/office/officeart/2016/7/layout/RepeatingBendingProcessNew"/>
    <dgm:cxn modelId="{57A4BB21-3251-47B4-ACF2-5D51AC74C82E}" type="presParOf" srcId="{ED5923C3-CE30-4AD1-94CE-A6B039175E9A}" destId="{F5EA4BEE-DE81-44F7-9355-2BF14BC4C921}" srcOrd="11" destOrd="0" presId="urn:microsoft.com/office/officeart/2016/7/layout/RepeatingBendingProcessNew"/>
    <dgm:cxn modelId="{AB0FFDCD-7527-486F-9381-43B3AA04A04B}" type="presParOf" srcId="{F5EA4BEE-DE81-44F7-9355-2BF14BC4C921}" destId="{659FB749-2B0E-4851-B714-92F76F1856D9}" srcOrd="0" destOrd="0" presId="urn:microsoft.com/office/officeart/2016/7/layout/RepeatingBendingProcessNew"/>
    <dgm:cxn modelId="{43F67CB7-15DC-4CEC-9240-585C04AA96B6}" type="presParOf" srcId="{ED5923C3-CE30-4AD1-94CE-A6B039175E9A}" destId="{8E561BCC-8C04-462F-8149-44826AAE5CCD}" srcOrd="12" destOrd="0" presId="urn:microsoft.com/office/officeart/2016/7/layout/RepeatingBendingProcessNew"/>
    <dgm:cxn modelId="{06B7CDD3-8FE7-45D0-80F3-BD92BA245BFC}" type="presParOf" srcId="{ED5923C3-CE30-4AD1-94CE-A6B039175E9A}" destId="{91625898-1894-4EB1-8828-E00244B5FDCF}" srcOrd="13" destOrd="0" presId="urn:microsoft.com/office/officeart/2016/7/layout/RepeatingBendingProcessNew"/>
    <dgm:cxn modelId="{CF6D5C6B-85F2-4E20-8C4F-521CF6404859}" type="presParOf" srcId="{91625898-1894-4EB1-8828-E00244B5FDCF}" destId="{65458A76-4A8A-4A52-80A0-0435EFD5891C}" srcOrd="0" destOrd="0" presId="urn:microsoft.com/office/officeart/2016/7/layout/RepeatingBendingProcessNew"/>
    <dgm:cxn modelId="{698DDFCE-69DC-46C5-B5CC-19EDE44AFEBF}" type="presParOf" srcId="{ED5923C3-CE30-4AD1-94CE-A6B039175E9A}" destId="{638D5723-F00A-4E2F-9975-F89F67FD86DC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8404E7-7A37-4353-9D73-C19A7FE4DBFB}">
      <dsp:nvSpPr>
        <dsp:cNvPr id="0" name=""/>
        <dsp:cNvSpPr/>
      </dsp:nvSpPr>
      <dsp:spPr>
        <a:xfrm>
          <a:off x="544387" y="1629688"/>
          <a:ext cx="578984" cy="5546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57610B-9D9D-4AA1-A4EC-DA73D65823F3}">
      <dsp:nvSpPr>
        <dsp:cNvPr id="0" name=""/>
        <dsp:cNvSpPr/>
      </dsp:nvSpPr>
      <dsp:spPr>
        <a:xfrm>
          <a:off x="6758" y="2295555"/>
          <a:ext cx="1654242" cy="1887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000" b="1" kern="1200" dirty="0"/>
            <a:t>Connecting via CSV / Excel</a:t>
          </a:r>
          <a:endParaRPr lang="en-US" sz="2000" kern="1200" dirty="0"/>
        </a:p>
      </dsp:txBody>
      <dsp:txXfrm>
        <a:off x="6758" y="2295555"/>
        <a:ext cx="1654242" cy="1887425"/>
      </dsp:txXfrm>
    </dsp:sp>
    <dsp:sp modelId="{64905213-FB23-4987-871D-52B341499232}">
      <dsp:nvSpPr>
        <dsp:cNvPr id="0" name=""/>
        <dsp:cNvSpPr/>
      </dsp:nvSpPr>
      <dsp:spPr>
        <a:xfrm>
          <a:off x="6758" y="4234720"/>
          <a:ext cx="1654242" cy="61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1ACFD2-1D5F-4452-BE9B-A7C68D7B2094}">
      <dsp:nvSpPr>
        <dsp:cNvPr id="0" name=""/>
        <dsp:cNvSpPr/>
      </dsp:nvSpPr>
      <dsp:spPr>
        <a:xfrm>
          <a:off x="2488122" y="1629688"/>
          <a:ext cx="578984" cy="5546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0DC0C-6DA1-447D-AD36-D5148608340B}">
      <dsp:nvSpPr>
        <dsp:cNvPr id="0" name=""/>
        <dsp:cNvSpPr/>
      </dsp:nvSpPr>
      <dsp:spPr>
        <a:xfrm>
          <a:off x="1950493" y="2295555"/>
          <a:ext cx="1654242" cy="1887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000" kern="1200" dirty="0"/>
            <a:t>Open </a:t>
          </a:r>
          <a:r>
            <a:rPr lang="en-IN" sz="2000" b="1" kern="1200" dirty="0"/>
            <a:t>Power BI Desktop</a:t>
          </a:r>
          <a:r>
            <a:rPr lang="en-IN" sz="2000" kern="1200" dirty="0"/>
            <a:t> → Click </a:t>
          </a:r>
          <a:r>
            <a:rPr lang="en-IN" sz="2000" b="1" kern="1200" dirty="0"/>
            <a:t>Get Data → Text/CSV</a:t>
          </a:r>
          <a:r>
            <a:rPr lang="en-IN" sz="2000" kern="1200" dirty="0"/>
            <a:t> (or Excel).</a:t>
          </a:r>
          <a:endParaRPr lang="en-US" sz="2000" kern="1200" dirty="0"/>
        </a:p>
      </dsp:txBody>
      <dsp:txXfrm>
        <a:off x="1950493" y="2295555"/>
        <a:ext cx="1654242" cy="1887425"/>
      </dsp:txXfrm>
    </dsp:sp>
    <dsp:sp modelId="{BCC14F60-A6C6-4E1F-9A56-5CEE6162E1B7}">
      <dsp:nvSpPr>
        <dsp:cNvPr id="0" name=""/>
        <dsp:cNvSpPr/>
      </dsp:nvSpPr>
      <dsp:spPr>
        <a:xfrm>
          <a:off x="1950493" y="4234720"/>
          <a:ext cx="1654242" cy="61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6ADAD3-BB36-4496-BD2F-66DF0E50A93D}">
      <dsp:nvSpPr>
        <dsp:cNvPr id="0" name=""/>
        <dsp:cNvSpPr/>
      </dsp:nvSpPr>
      <dsp:spPr>
        <a:xfrm>
          <a:off x="4661457" y="1629688"/>
          <a:ext cx="578984" cy="5546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74C10-B556-4B91-829A-DF3DC7E1A9D4}">
      <dsp:nvSpPr>
        <dsp:cNvPr id="0" name=""/>
        <dsp:cNvSpPr/>
      </dsp:nvSpPr>
      <dsp:spPr>
        <a:xfrm>
          <a:off x="3894228" y="2295555"/>
          <a:ext cx="2113443" cy="1887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000" kern="1200" dirty="0"/>
            <a:t>Browse and select your </a:t>
          </a:r>
          <a:r>
            <a:rPr lang="en-IN" sz="2000" b="1" kern="1200" dirty="0"/>
            <a:t>dataset file</a:t>
          </a:r>
          <a:r>
            <a:rPr lang="en-IN" sz="2000" kern="1200" dirty="0"/>
            <a:t> (e.g., Customers.csv, Orders.csv).</a:t>
          </a:r>
          <a:endParaRPr lang="en-US" sz="2000" kern="1200" dirty="0"/>
        </a:p>
      </dsp:txBody>
      <dsp:txXfrm>
        <a:off x="3894228" y="2295555"/>
        <a:ext cx="2113443" cy="1887425"/>
      </dsp:txXfrm>
    </dsp:sp>
    <dsp:sp modelId="{2C54F076-7E08-4897-B495-866897C71729}">
      <dsp:nvSpPr>
        <dsp:cNvPr id="0" name=""/>
        <dsp:cNvSpPr/>
      </dsp:nvSpPr>
      <dsp:spPr>
        <a:xfrm>
          <a:off x="4123828" y="4234720"/>
          <a:ext cx="1654242" cy="61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A8112B-ACC0-4491-ABA5-56FC0219582C}">
      <dsp:nvSpPr>
        <dsp:cNvPr id="0" name=""/>
        <dsp:cNvSpPr/>
      </dsp:nvSpPr>
      <dsp:spPr>
        <a:xfrm>
          <a:off x="6834793" y="1629688"/>
          <a:ext cx="578984" cy="5546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30E9FA-1FFF-4D59-A8FA-29CE3D17039E}">
      <dsp:nvSpPr>
        <dsp:cNvPr id="0" name=""/>
        <dsp:cNvSpPr/>
      </dsp:nvSpPr>
      <dsp:spPr>
        <a:xfrm>
          <a:off x="6297164" y="2295555"/>
          <a:ext cx="1654242" cy="1887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000" kern="1200" dirty="0"/>
            <a:t>Preview the data and click </a:t>
          </a:r>
          <a:r>
            <a:rPr lang="en-IN" sz="2000" b="1" kern="1200" dirty="0"/>
            <a:t>Load</a:t>
          </a:r>
          <a:r>
            <a:rPr lang="en-IN" sz="2000" kern="1200" dirty="0"/>
            <a:t>.</a:t>
          </a:r>
          <a:endParaRPr lang="en-US" sz="2000" kern="1200" dirty="0"/>
        </a:p>
      </dsp:txBody>
      <dsp:txXfrm>
        <a:off x="6297164" y="2295555"/>
        <a:ext cx="1654242" cy="1887425"/>
      </dsp:txXfrm>
    </dsp:sp>
    <dsp:sp modelId="{2B9ECBF4-05FF-4813-A2E3-867DC4C9AA22}">
      <dsp:nvSpPr>
        <dsp:cNvPr id="0" name=""/>
        <dsp:cNvSpPr/>
      </dsp:nvSpPr>
      <dsp:spPr>
        <a:xfrm>
          <a:off x="6297164" y="4234720"/>
          <a:ext cx="1654242" cy="61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1EEE2C-7630-45F2-AB90-3BD5494DA392}">
      <dsp:nvSpPr>
        <dsp:cNvPr id="0" name=""/>
        <dsp:cNvSpPr/>
      </dsp:nvSpPr>
      <dsp:spPr>
        <a:xfrm>
          <a:off x="8778527" y="1629688"/>
          <a:ext cx="578984" cy="55462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0D01F3-CC7A-44C0-8D09-91CB2A8E6CD1}">
      <dsp:nvSpPr>
        <dsp:cNvPr id="0" name=""/>
        <dsp:cNvSpPr/>
      </dsp:nvSpPr>
      <dsp:spPr>
        <a:xfrm>
          <a:off x="8240898" y="2295555"/>
          <a:ext cx="1654242" cy="1887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000" kern="1200"/>
            <a:t>Use </a:t>
          </a:r>
          <a:r>
            <a:rPr lang="en-IN" sz="2000" b="1" kern="1200"/>
            <a:t>Power Query</a:t>
          </a:r>
          <a:r>
            <a:rPr lang="en-IN" sz="2000" kern="1200"/>
            <a:t> to clean and transform data:</a:t>
          </a:r>
          <a:endParaRPr lang="en-US" sz="2000" kern="1200"/>
        </a:p>
      </dsp:txBody>
      <dsp:txXfrm>
        <a:off x="8240898" y="2295555"/>
        <a:ext cx="1654242" cy="1887425"/>
      </dsp:txXfrm>
    </dsp:sp>
    <dsp:sp modelId="{9EE94A92-80F0-48D4-8626-29F9169332A8}">
      <dsp:nvSpPr>
        <dsp:cNvPr id="0" name=""/>
        <dsp:cNvSpPr/>
      </dsp:nvSpPr>
      <dsp:spPr>
        <a:xfrm>
          <a:off x="8240898" y="4234720"/>
          <a:ext cx="1654242" cy="61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>
        <a:off x="8240898" y="4234720"/>
        <a:ext cx="1654242" cy="61730"/>
      </dsp:txXfrm>
    </dsp:sp>
    <dsp:sp modelId="{D21A7D69-3F13-419E-BAEA-9E0D8B9E14A5}">
      <dsp:nvSpPr>
        <dsp:cNvPr id="0" name=""/>
        <dsp:cNvSpPr/>
      </dsp:nvSpPr>
      <dsp:spPr>
        <a:xfrm>
          <a:off x="10722262" y="1629688"/>
          <a:ext cx="578984" cy="55462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21D4B-ED76-4C5D-BD05-03842C87635E}">
      <dsp:nvSpPr>
        <dsp:cNvPr id="0" name=""/>
        <dsp:cNvSpPr/>
      </dsp:nvSpPr>
      <dsp:spPr>
        <a:xfrm>
          <a:off x="10184633" y="2295555"/>
          <a:ext cx="1654242" cy="1887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000" kern="1200"/>
            <a:t>Create </a:t>
          </a:r>
          <a:r>
            <a:rPr lang="en-IN" sz="2000" b="1" kern="1200"/>
            <a:t>relationships</a:t>
          </a:r>
          <a:r>
            <a:rPr lang="en-IN" sz="2000" kern="1200"/>
            <a:t> between tables </a:t>
          </a:r>
          <a:endParaRPr lang="en-US" sz="2000" kern="1200"/>
        </a:p>
      </dsp:txBody>
      <dsp:txXfrm>
        <a:off x="10184633" y="2295555"/>
        <a:ext cx="1654242" cy="1887425"/>
      </dsp:txXfrm>
    </dsp:sp>
    <dsp:sp modelId="{9F1B0390-A549-45B5-BB4C-43F9CE46A926}">
      <dsp:nvSpPr>
        <dsp:cNvPr id="0" name=""/>
        <dsp:cNvSpPr/>
      </dsp:nvSpPr>
      <dsp:spPr>
        <a:xfrm>
          <a:off x="10184633" y="4234720"/>
          <a:ext cx="1654242" cy="61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6557B6-6967-4F03-B1CE-590A4596A88F}">
      <dsp:nvSpPr>
        <dsp:cNvPr id="0" name=""/>
        <dsp:cNvSpPr/>
      </dsp:nvSpPr>
      <dsp:spPr>
        <a:xfrm>
          <a:off x="1909433" y="776558"/>
          <a:ext cx="39873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8730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98065" y="820085"/>
        <a:ext cx="21466" cy="4385"/>
      </dsp:txXfrm>
    </dsp:sp>
    <dsp:sp modelId="{E09C4C45-88C0-472A-909D-3F43735E37A7}">
      <dsp:nvSpPr>
        <dsp:cNvPr id="0" name=""/>
        <dsp:cNvSpPr/>
      </dsp:nvSpPr>
      <dsp:spPr>
        <a:xfrm>
          <a:off x="6147" y="250752"/>
          <a:ext cx="1905086" cy="114305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51" tIns="97988" rIns="93351" bIns="979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Connecting via Cleaned CSV Files</a:t>
          </a:r>
          <a:endParaRPr lang="en-US" sz="1800" kern="1200" dirty="0"/>
        </a:p>
      </dsp:txBody>
      <dsp:txXfrm>
        <a:off x="6147" y="250752"/>
        <a:ext cx="1905086" cy="1143051"/>
      </dsp:txXfrm>
    </dsp:sp>
    <dsp:sp modelId="{7EBC9EDD-F914-4A28-AF0B-D21B05118FF2}">
      <dsp:nvSpPr>
        <dsp:cNvPr id="0" name=""/>
        <dsp:cNvSpPr/>
      </dsp:nvSpPr>
      <dsp:spPr>
        <a:xfrm>
          <a:off x="4243850" y="776558"/>
          <a:ext cx="41640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6409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40879" y="820085"/>
        <a:ext cx="22350" cy="4385"/>
      </dsp:txXfrm>
    </dsp:sp>
    <dsp:sp modelId="{66EB96CF-D78D-4676-8E2F-FA52E1252DF3}">
      <dsp:nvSpPr>
        <dsp:cNvPr id="0" name=""/>
        <dsp:cNvSpPr/>
      </dsp:nvSpPr>
      <dsp:spPr>
        <a:xfrm>
          <a:off x="2340563" y="250752"/>
          <a:ext cx="1905086" cy="114305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51" tIns="97988" rIns="93351" bIns="979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Open MySQL Workbench</a:t>
          </a:r>
          <a:r>
            <a:rPr lang="en-IN" sz="1800" kern="1200" dirty="0"/>
            <a:t> → Connect to local MySQL Server</a:t>
          </a:r>
          <a:r>
            <a:rPr lang="en-IN" sz="1300" kern="1200" dirty="0"/>
            <a:t>.</a:t>
          </a:r>
          <a:endParaRPr lang="en-US" sz="1300" kern="1200" dirty="0"/>
        </a:p>
      </dsp:txBody>
      <dsp:txXfrm>
        <a:off x="2340563" y="250752"/>
        <a:ext cx="1905086" cy="1143051"/>
      </dsp:txXfrm>
    </dsp:sp>
    <dsp:sp modelId="{FF208BE8-9BA6-4A17-8F33-A806D7DE7613}">
      <dsp:nvSpPr>
        <dsp:cNvPr id="0" name=""/>
        <dsp:cNvSpPr/>
      </dsp:nvSpPr>
      <dsp:spPr>
        <a:xfrm>
          <a:off x="6595946" y="776558"/>
          <a:ext cx="4075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569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788777" y="820085"/>
        <a:ext cx="21908" cy="4385"/>
      </dsp:txXfrm>
    </dsp:sp>
    <dsp:sp modelId="{72673969-6037-410A-BE1E-CBAD66FAAC39}">
      <dsp:nvSpPr>
        <dsp:cNvPr id="0" name=""/>
        <dsp:cNvSpPr/>
      </dsp:nvSpPr>
      <dsp:spPr>
        <a:xfrm>
          <a:off x="4692659" y="250752"/>
          <a:ext cx="1905086" cy="114305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51" tIns="97988" rIns="93351" bIns="979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Create a new database</a:t>
          </a:r>
          <a:r>
            <a:rPr lang="en-IN" sz="1800" kern="1200" dirty="0"/>
            <a:t> → CREATE DATABASE Northwind;</a:t>
          </a:r>
          <a:endParaRPr lang="en-US" sz="1800" kern="1200" dirty="0"/>
        </a:p>
      </dsp:txBody>
      <dsp:txXfrm>
        <a:off x="4692659" y="250752"/>
        <a:ext cx="1905086" cy="1143051"/>
      </dsp:txXfrm>
    </dsp:sp>
    <dsp:sp modelId="{5A521771-0000-4FCE-9871-9781CC49A026}">
      <dsp:nvSpPr>
        <dsp:cNvPr id="0" name=""/>
        <dsp:cNvSpPr/>
      </dsp:nvSpPr>
      <dsp:spPr>
        <a:xfrm>
          <a:off x="958690" y="1392004"/>
          <a:ext cx="7029769" cy="892561"/>
        </a:xfrm>
        <a:custGeom>
          <a:avLst/>
          <a:gdLst/>
          <a:ahLst/>
          <a:cxnLst/>
          <a:rect l="0" t="0" r="0" b="0"/>
          <a:pathLst>
            <a:path>
              <a:moveTo>
                <a:pt x="7029769" y="0"/>
              </a:moveTo>
              <a:lnTo>
                <a:pt x="7029769" y="463380"/>
              </a:lnTo>
              <a:lnTo>
                <a:pt x="0" y="463380"/>
              </a:lnTo>
              <a:lnTo>
                <a:pt x="0" y="892561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96321" y="1836092"/>
        <a:ext cx="354506" cy="4385"/>
      </dsp:txXfrm>
    </dsp:sp>
    <dsp:sp modelId="{EA5A6CA4-0006-4DD4-B60C-F08F408E6F57}">
      <dsp:nvSpPr>
        <dsp:cNvPr id="0" name=""/>
        <dsp:cNvSpPr/>
      </dsp:nvSpPr>
      <dsp:spPr>
        <a:xfrm>
          <a:off x="7035916" y="250752"/>
          <a:ext cx="1905086" cy="114305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51" tIns="97988" rIns="93351" bIns="979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Select the database</a:t>
          </a:r>
          <a:r>
            <a:rPr lang="en-IN" sz="1800" kern="1200" dirty="0"/>
            <a:t> → USE Northwind;</a:t>
          </a:r>
          <a:endParaRPr lang="en-US" sz="1800" kern="1200" dirty="0"/>
        </a:p>
      </dsp:txBody>
      <dsp:txXfrm>
        <a:off x="7035916" y="250752"/>
        <a:ext cx="1905086" cy="1143051"/>
      </dsp:txXfrm>
    </dsp:sp>
    <dsp:sp modelId="{44D7B79A-C296-4495-BC2B-C32977122572}">
      <dsp:nvSpPr>
        <dsp:cNvPr id="0" name=""/>
        <dsp:cNvSpPr/>
      </dsp:nvSpPr>
      <dsp:spPr>
        <a:xfrm>
          <a:off x="1909433" y="2842771"/>
          <a:ext cx="4075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569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02264" y="2886298"/>
        <a:ext cx="21908" cy="4385"/>
      </dsp:txXfrm>
    </dsp:sp>
    <dsp:sp modelId="{E0E29B79-454D-4528-B2EF-0DADD6C4156A}">
      <dsp:nvSpPr>
        <dsp:cNvPr id="0" name=""/>
        <dsp:cNvSpPr/>
      </dsp:nvSpPr>
      <dsp:spPr>
        <a:xfrm>
          <a:off x="6147" y="2316965"/>
          <a:ext cx="1905086" cy="114305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51" tIns="97988" rIns="93351" bIns="979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Import cleaned data files (CSV)</a:t>
          </a:r>
          <a:endParaRPr lang="en-US" sz="1800" kern="1200" dirty="0"/>
        </a:p>
      </dsp:txBody>
      <dsp:txXfrm>
        <a:off x="6147" y="2316965"/>
        <a:ext cx="1905086" cy="1143051"/>
      </dsp:txXfrm>
    </dsp:sp>
    <dsp:sp modelId="{F5EA4BEE-DE81-44F7-9355-2BF14BC4C921}">
      <dsp:nvSpPr>
        <dsp:cNvPr id="0" name=""/>
        <dsp:cNvSpPr/>
      </dsp:nvSpPr>
      <dsp:spPr>
        <a:xfrm>
          <a:off x="4252690" y="2842771"/>
          <a:ext cx="4075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569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45520" y="2886298"/>
        <a:ext cx="21908" cy="4385"/>
      </dsp:txXfrm>
    </dsp:sp>
    <dsp:sp modelId="{983CB600-D731-4114-8F03-BD751080090B}">
      <dsp:nvSpPr>
        <dsp:cNvPr id="0" name=""/>
        <dsp:cNvSpPr/>
      </dsp:nvSpPr>
      <dsp:spPr>
        <a:xfrm>
          <a:off x="2349403" y="1911565"/>
          <a:ext cx="1905086" cy="195385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51" tIns="97988" rIns="93351" bIns="979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The data was </a:t>
          </a:r>
          <a:r>
            <a:rPr lang="en-IN" sz="1800" b="1" kern="1200" dirty="0"/>
            <a:t>cleaned and formatted in Excel using Power Query</a:t>
          </a:r>
          <a:r>
            <a:rPr lang="en-IN" sz="1800" kern="1200" dirty="0"/>
            <a:t> (removing nulls, correcting data types, standardizing formats</a:t>
          </a:r>
          <a:r>
            <a:rPr lang="en-IN" sz="1400" kern="1200" dirty="0"/>
            <a:t>).</a:t>
          </a:r>
          <a:endParaRPr lang="en-US" sz="1400" kern="1200" dirty="0"/>
        </a:p>
      </dsp:txBody>
      <dsp:txXfrm>
        <a:off x="2349403" y="1911565"/>
        <a:ext cx="1905086" cy="1953852"/>
      </dsp:txXfrm>
    </dsp:sp>
    <dsp:sp modelId="{91625898-1894-4EB1-8828-E00244B5FDCF}">
      <dsp:nvSpPr>
        <dsp:cNvPr id="0" name=""/>
        <dsp:cNvSpPr/>
      </dsp:nvSpPr>
      <dsp:spPr>
        <a:xfrm>
          <a:off x="6595946" y="2842771"/>
          <a:ext cx="4075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569" y="45720"/>
              </a:lnTo>
            </a:path>
          </a:pathLst>
        </a:custGeom>
        <a:noFill/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788777" y="2886298"/>
        <a:ext cx="21908" cy="4385"/>
      </dsp:txXfrm>
    </dsp:sp>
    <dsp:sp modelId="{8E561BCC-8C04-462F-8149-44826AAE5CCD}">
      <dsp:nvSpPr>
        <dsp:cNvPr id="0" name=""/>
        <dsp:cNvSpPr/>
      </dsp:nvSpPr>
      <dsp:spPr>
        <a:xfrm>
          <a:off x="4692659" y="1858522"/>
          <a:ext cx="1905086" cy="205993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51" tIns="97988" rIns="93351" bIns="979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Go to </a:t>
          </a:r>
          <a:r>
            <a:rPr lang="en-IN" sz="1800" b="1" kern="1200" dirty="0"/>
            <a:t>Server → Data Import → Table Data Import Wizard</a:t>
          </a:r>
          <a:r>
            <a:rPr lang="en-IN" sz="1800" kern="1200" dirty="0"/>
            <a:t> and select the cleaned CSV files (e.g., Customers.csv, Orders.csv, Products.csv).</a:t>
          </a:r>
          <a:endParaRPr lang="en-US" sz="1800" kern="1200" dirty="0"/>
        </a:p>
      </dsp:txBody>
      <dsp:txXfrm>
        <a:off x="4692659" y="1858522"/>
        <a:ext cx="1905086" cy="2059939"/>
      </dsp:txXfrm>
    </dsp:sp>
    <dsp:sp modelId="{638D5723-F00A-4E2F-9975-F89F67FD86DC}">
      <dsp:nvSpPr>
        <dsp:cNvPr id="0" name=""/>
        <dsp:cNvSpPr/>
      </dsp:nvSpPr>
      <dsp:spPr>
        <a:xfrm>
          <a:off x="7035916" y="1831974"/>
          <a:ext cx="1905086" cy="211303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51" tIns="97988" rIns="93351" bIns="979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Map columns properly</a:t>
          </a:r>
          <a:r>
            <a:rPr lang="en-IN" sz="1800" kern="1200" dirty="0"/>
            <a:t> and ensure correct data types (e.g., INT, VARCHAR, DATE, DECIMAL).</a:t>
          </a:r>
          <a:endParaRPr lang="en-US" sz="1800" kern="1200" dirty="0"/>
        </a:p>
      </dsp:txBody>
      <dsp:txXfrm>
        <a:off x="7035916" y="1831974"/>
        <a:ext cx="1905086" cy="2113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28BD2-C1A6-4CC3-8273-1C583E28CCDA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3898C4-C596-4300-9833-BE1A0BE96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926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898C4-C596-4300-9833-BE1A0BE9660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995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034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75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50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12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060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545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17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42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883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98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53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1236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77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705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58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112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57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BD10ED9-FF32-4B06-9C1D-7BC8E2350B6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8CD7D-0189-4EDA-8EC5-7C7154CB3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7826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1" r:id="rId14"/>
    <p:sldLayoutId id="2147483882" r:id="rId15"/>
    <p:sldLayoutId id="2147483883" r:id="rId16"/>
    <p:sldLayoutId id="21474838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av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chart" Target="../charts/chart1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7.xml"/><Relationship Id="rId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4D0D1-7EC0-614F-57CA-B3437FB97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567568" cy="320413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IN" sz="4400" dirty="0"/>
              <a:t>Capstone Project –</a:t>
            </a:r>
            <a:br>
              <a:rPr lang="en-IN" sz="4400" dirty="0"/>
            </a:br>
            <a:r>
              <a:rPr lang="en-IN" sz="4400" dirty="0"/>
              <a:t>Northwind Traders </a:t>
            </a:r>
            <a:br>
              <a:rPr lang="en-IN" sz="4400" dirty="0"/>
            </a:br>
            <a:r>
              <a:rPr lang="en-IN" sz="4400" dirty="0"/>
              <a:t>Sales Analytics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B6084FD-CADC-1B8B-6224-803027282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2" r="3142"/>
          <a:stretch/>
        </p:blipFill>
        <p:spPr>
          <a:xfrm>
            <a:off x="5664613" y="1388720"/>
            <a:ext cx="6408836" cy="454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0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44E59BBD-45EB-50C2-E223-DB7DE10B8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498764"/>
            <a:ext cx="10264629" cy="62449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Overview of the Project</a:t>
            </a:r>
          </a:p>
          <a:p>
            <a:r>
              <a:rPr lang="en-US" sz="2000" dirty="0">
                <a:solidFill>
                  <a:schemeClr val="tx2"/>
                </a:solidFill>
              </a:rPr>
              <a:t>This project analyzes the operations of </a:t>
            </a:r>
            <a:r>
              <a:rPr lang="en-US" sz="2000" b="1" dirty="0">
                <a:solidFill>
                  <a:schemeClr val="tx2"/>
                </a:solidFill>
              </a:rPr>
              <a:t>Northwind Traders</a:t>
            </a:r>
            <a:r>
              <a:rPr lang="en-US" sz="2000" dirty="0">
                <a:solidFill>
                  <a:schemeClr val="tx2"/>
                </a:solidFill>
              </a:rPr>
              <a:t>, a global wholesale company, by building interactive Power BI dashboards. The analysis focuses on </a:t>
            </a:r>
            <a:r>
              <a:rPr lang="en-US" sz="2000" b="1" dirty="0">
                <a:solidFill>
                  <a:schemeClr val="tx2"/>
                </a:solidFill>
              </a:rPr>
              <a:t>Sales, Customers, Employees, and Inventory</a:t>
            </a:r>
            <a:r>
              <a:rPr lang="en-US" sz="2000" dirty="0">
                <a:solidFill>
                  <a:schemeClr val="tx2"/>
                </a:solidFill>
              </a:rPr>
              <a:t>, aiming to uncover business insights and support data-driven decision-making.</a:t>
            </a:r>
            <a:br>
              <a:rPr lang="en-US" sz="2000" dirty="0">
                <a:solidFill>
                  <a:schemeClr val="tx2"/>
                </a:solidFill>
              </a:rPr>
            </a:br>
            <a:endParaRPr lang="en-US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Objective</a:t>
            </a:r>
          </a:p>
          <a:p>
            <a:r>
              <a:rPr lang="en-US" sz="2000" dirty="0">
                <a:solidFill>
                  <a:schemeClr val="tx2"/>
                </a:solidFill>
              </a:rPr>
              <a:t>To create a </a:t>
            </a:r>
            <a:r>
              <a:rPr lang="en-US" sz="2000" b="1" dirty="0">
                <a:solidFill>
                  <a:schemeClr val="tx2"/>
                </a:solidFill>
              </a:rPr>
              <a:t>comprehensive, user-friendly Power BI report</a:t>
            </a:r>
            <a:r>
              <a:rPr lang="en-US" sz="2000" dirty="0">
                <a:solidFill>
                  <a:schemeClr val="tx2"/>
                </a:solidFill>
              </a:rPr>
              <a:t> that highlights key performance metrics such as sales trends, customer engagement, employee productivity, and inventory management — empowering stakeholders to make strategic business decisions.</a:t>
            </a:r>
          </a:p>
          <a:p>
            <a:pPr marL="0" indent="0"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Significance</a:t>
            </a:r>
          </a:p>
          <a:p>
            <a:r>
              <a:rPr lang="en-US" sz="2000" dirty="0">
                <a:solidFill>
                  <a:schemeClr val="tx2"/>
                </a:solidFill>
              </a:rPr>
              <a:t>Helps identify </a:t>
            </a:r>
            <a:r>
              <a:rPr lang="en-US" sz="2000" b="1" dirty="0">
                <a:solidFill>
                  <a:schemeClr val="tx2"/>
                </a:solidFill>
              </a:rPr>
              <a:t>top-performing employees and products</a:t>
            </a:r>
            <a:r>
              <a:rPr lang="en-US" sz="2000" dirty="0">
                <a:solidFill>
                  <a:schemeClr val="tx2"/>
                </a:solidFill>
              </a:rPr>
              <a:t>.</a:t>
            </a:r>
          </a:p>
          <a:p>
            <a:r>
              <a:rPr lang="en-US" sz="2000" dirty="0">
                <a:solidFill>
                  <a:schemeClr val="tx2"/>
                </a:solidFill>
              </a:rPr>
              <a:t>Improves understanding of </a:t>
            </a:r>
            <a:r>
              <a:rPr lang="en-US" sz="2000" b="1" dirty="0">
                <a:solidFill>
                  <a:schemeClr val="tx2"/>
                </a:solidFill>
              </a:rPr>
              <a:t>customer behavior</a:t>
            </a:r>
            <a:r>
              <a:rPr lang="en-US" sz="2000" dirty="0">
                <a:solidFill>
                  <a:schemeClr val="tx2"/>
                </a:solidFill>
              </a:rPr>
              <a:t> and segmentation.</a:t>
            </a:r>
          </a:p>
          <a:p>
            <a:r>
              <a:rPr lang="en-US" sz="2000" dirty="0">
                <a:solidFill>
                  <a:schemeClr val="tx2"/>
                </a:solidFill>
              </a:rPr>
              <a:t>Enhances </a:t>
            </a:r>
            <a:r>
              <a:rPr lang="en-US" sz="2000" b="1" dirty="0">
                <a:solidFill>
                  <a:schemeClr val="tx2"/>
                </a:solidFill>
              </a:rPr>
              <a:t>inventory control</a:t>
            </a:r>
            <a:r>
              <a:rPr lang="en-US" sz="2000" dirty="0">
                <a:solidFill>
                  <a:schemeClr val="tx2"/>
                </a:solidFill>
              </a:rPr>
              <a:t> through real-time visibility.</a:t>
            </a:r>
          </a:p>
          <a:p>
            <a:r>
              <a:rPr lang="en-US" sz="2000" dirty="0">
                <a:solidFill>
                  <a:schemeClr val="tx2"/>
                </a:solidFill>
              </a:rPr>
              <a:t>Supports </a:t>
            </a:r>
            <a:r>
              <a:rPr lang="en-US" sz="2000" b="1" dirty="0">
                <a:solidFill>
                  <a:schemeClr val="tx2"/>
                </a:solidFill>
              </a:rPr>
              <a:t>management decisions</a:t>
            </a:r>
            <a:r>
              <a:rPr lang="en-US" sz="2000" dirty="0">
                <a:solidFill>
                  <a:schemeClr val="tx2"/>
                </a:solidFill>
              </a:rPr>
              <a:t> with clear data visualization.</a:t>
            </a:r>
          </a:p>
          <a:p>
            <a:endParaRPr lang="en-IN" sz="7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532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4EEE586A-C047-891A-10E0-F02D0E83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87" y="38178"/>
            <a:ext cx="11229393" cy="98911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Data Dictionary –Key Analysis Areas</a:t>
            </a:r>
            <a:endParaRPr lang="en-IN" sz="4000" dirty="0">
              <a:solidFill>
                <a:schemeClr val="tx2"/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404645C-E906-5EF3-9272-8ACD9FF1A9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5908906"/>
              </p:ext>
            </p:extLst>
          </p:nvPr>
        </p:nvGraphicFramePr>
        <p:xfrm>
          <a:off x="0" y="896132"/>
          <a:ext cx="12181615" cy="59236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2664">
                  <a:extLst>
                    <a:ext uri="{9D8B030D-6E8A-4147-A177-3AD203B41FA5}">
                      <a16:colId xmlns:a16="http://schemas.microsoft.com/office/drawing/2014/main" val="3424648000"/>
                    </a:ext>
                  </a:extLst>
                </a:gridCol>
                <a:gridCol w="4663795">
                  <a:extLst>
                    <a:ext uri="{9D8B030D-6E8A-4147-A177-3AD203B41FA5}">
                      <a16:colId xmlns:a16="http://schemas.microsoft.com/office/drawing/2014/main" val="1930684514"/>
                    </a:ext>
                  </a:extLst>
                </a:gridCol>
                <a:gridCol w="5845156">
                  <a:extLst>
                    <a:ext uri="{9D8B030D-6E8A-4147-A177-3AD203B41FA5}">
                      <a16:colId xmlns:a16="http://schemas.microsoft.com/office/drawing/2014/main" val="833672891"/>
                    </a:ext>
                  </a:extLst>
                </a:gridCol>
              </a:tblGrid>
              <a:tr h="1286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</a:p>
                    <a:p>
                      <a:pPr algn="ctr">
                        <a:buNone/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</a:p>
                    <a:p>
                      <a:pPr algn="ctr">
                        <a:buNone/>
                      </a:pPr>
                      <a:r>
                        <a:rPr lang="en-IN" sz="1200" kern="100">
                          <a:effectLst/>
                        </a:rPr>
                        <a:t> </a:t>
                      </a:r>
                    </a:p>
                    <a:p>
                      <a:pPr algn="ctr">
                        <a:buNone/>
                      </a:pPr>
                      <a:r>
                        <a:rPr lang="en-IN" sz="2400" kern="100">
                          <a:effectLst/>
                        </a:rPr>
                        <a:t>Analysis Type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</a:p>
                    <a:p>
                      <a:pPr algn="ctr">
                        <a:buNone/>
                      </a:pPr>
                      <a:r>
                        <a:rPr lang="en-IN" sz="2400" kern="100" dirty="0">
                          <a:effectLst/>
                        </a:rPr>
                        <a:t>Focus / Key Metrics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</a:p>
                    <a:p>
                      <a:pPr algn="ctr">
                        <a:buNone/>
                      </a:pPr>
                      <a:r>
                        <a:rPr lang="en-IN" sz="1200" kern="100" dirty="0">
                          <a:effectLst/>
                        </a:rPr>
                        <a:t> </a:t>
                      </a:r>
                    </a:p>
                    <a:p>
                      <a:pPr algn="ctr">
                        <a:buNone/>
                      </a:pPr>
                      <a:r>
                        <a:rPr lang="en-IN" sz="2400" kern="100" dirty="0">
                          <a:effectLst/>
                        </a:rPr>
                        <a:t>Purpose / Insights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extLst>
                  <a:ext uri="{0D108BD9-81ED-4DB2-BD59-A6C34878D82A}">
                    <a16:rowId xmlns:a16="http://schemas.microsoft.com/office/drawing/2014/main" val="152184025"/>
                  </a:ext>
                </a:extLst>
              </a:tr>
              <a:tr h="7728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Customer Analysis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Customer segmentation, order frequency, and revenue per customer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Identify loyal customers, understand buying behavior, and plan targeted marketing.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extLst>
                  <a:ext uri="{0D108BD9-81ED-4DB2-BD59-A6C34878D82A}">
                    <a16:rowId xmlns:a16="http://schemas.microsoft.com/office/drawing/2014/main" val="2359344957"/>
                  </a:ext>
                </a:extLst>
              </a:tr>
              <a:tr h="7728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Order Analysis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Total orders, order volume, discounts, and shipping trends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Analyze order patterns, evaluate shipping efficiency, and track revenue contribution.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extLst>
                  <a:ext uri="{0D108BD9-81ED-4DB2-BD59-A6C34878D82A}">
                    <a16:rowId xmlns:a16="http://schemas.microsoft.com/office/drawing/2014/main" val="1674994032"/>
                  </a:ext>
                </a:extLst>
              </a:tr>
              <a:tr h="7728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Employee Analysis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Revenue by employee, total and average orders handled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Assess performance, recognize top performers, and optimize workload distribution.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extLst>
                  <a:ext uri="{0D108BD9-81ED-4DB2-BD59-A6C34878D82A}">
                    <a16:rowId xmlns:a16="http://schemas.microsoft.com/office/drawing/2014/main" val="2141707590"/>
                  </a:ext>
                </a:extLst>
              </a:tr>
              <a:tr h="7728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Product Analysis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Best-selling products, category trends, and stock status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Track product success, manage inventory, and ensure profitable category mix.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extLst>
                  <a:ext uri="{0D108BD9-81ED-4DB2-BD59-A6C34878D82A}">
                    <a16:rowId xmlns:a16="http://schemas.microsoft.com/office/drawing/2014/main" val="2117816860"/>
                  </a:ext>
                </a:extLst>
              </a:tr>
              <a:tr h="7728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Supplier Analysis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Supplier contribution, stock availability, and regional supply data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Monitor supplier performance and improve procurement reliability.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extLst>
                  <a:ext uri="{0D108BD9-81ED-4DB2-BD59-A6C34878D82A}">
                    <a16:rowId xmlns:a16="http://schemas.microsoft.com/office/drawing/2014/main" val="1020054737"/>
                  </a:ext>
                </a:extLst>
              </a:tr>
              <a:tr h="77282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Shippers Analysis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Delivery performance, and shipper utilization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Evaluate logistics partners and improve shipping cost-effectiveness.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390" marR="52390" marT="0" marB="0"/>
                </a:tc>
                <a:extLst>
                  <a:ext uri="{0D108BD9-81ED-4DB2-BD59-A6C34878D82A}">
                    <a16:rowId xmlns:a16="http://schemas.microsoft.com/office/drawing/2014/main" val="2888566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151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D5B1C-08DF-4194-334C-481B3A369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1"/>
            <a:ext cx="11266714" cy="827314"/>
          </a:xfrm>
        </p:spPr>
        <p:txBody>
          <a:bodyPr>
            <a:normAutofit/>
          </a:bodyPr>
          <a:lstStyle/>
          <a:p>
            <a:r>
              <a:rPr lang="en-US" dirty="0"/>
              <a:t>ER Diagram</a:t>
            </a:r>
            <a:endParaRPr lang="en-IN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A720CF-CC12-30ED-D958-9989D0535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7314"/>
            <a:ext cx="12191999" cy="6161315"/>
          </a:xfrm>
        </p:spPr>
      </p:pic>
    </p:spTree>
    <p:extLst>
      <p:ext uri="{BB962C8B-B14F-4D97-AF65-F5344CB8AC3E}">
        <p14:creationId xmlns:p14="http://schemas.microsoft.com/office/powerpoint/2010/main" val="2307434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23A56-30D0-AB8E-2D09-06D6FF23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>
            <a:normAutofit/>
          </a:bodyPr>
          <a:lstStyle/>
          <a:p>
            <a:r>
              <a:rPr lang="en-IN" sz="4000" b="1" dirty="0"/>
              <a:t>🔗 Data Connection – Power BI</a:t>
            </a:r>
            <a:br>
              <a:rPr lang="en-IN" sz="4000" b="1" dirty="0"/>
            </a:br>
            <a:endParaRPr lang="en-IN" sz="4000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717159AE-8FBD-1AD8-8EF3-3F506536CF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1152609"/>
              </p:ext>
            </p:extLst>
          </p:nvPr>
        </p:nvGraphicFramePr>
        <p:xfrm>
          <a:off x="124691" y="365125"/>
          <a:ext cx="11845635" cy="5926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831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495BC-C6D0-434E-F1F6-0BBD57D21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 fontScale="90000"/>
          </a:bodyPr>
          <a:lstStyle/>
          <a:p>
            <a:r>
              <a:rPr lang="en-IN" sz="3600" b="1"/>
              <a:t>🔗 Data Connection – MySQL</a:t>
            </a:r>
            <a:br>
              <a:rPr lang="en-IN" sz="3600" b="1"/>
            </a:br>
            <a:endParaRPr lang="en-IN" sz="3600"/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E596A099-FA22-DA93-6E70-E0EAECBB41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5911890"/>
              </p:ext>
            </p:extLst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5920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Wood human figure">
            <a:extLst>
              <a:ext uri="{FF2B5EF4-FFF2-40B4-BE49-F238E27FC236}">
                <a16:creationId xmlns:a16="http://schemas.microsoft.com/office/drawing/2014/main" id="{E0CA377E-72A2-FAC2-0669-13CDFBBA021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10000"/>
          </a:blip>
          <a:srcRect b="30943"/>
          <a:stretch>
            <a:fillRect/>
          </a:stretch>
        </p:blipFill>
        <p:spPr>
          <a:xfrm>
            <a:off x="20" y="1238033"/>
            <a:ext cx="12191980" cy="5619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8BC000-81BC-97AA-1365-3BC4A78D7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68" y="1275388"/>
            <a:ext cx="6858000" cy="263098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>
                <a:solidFill>
                  <a:schemeClr val="tx2"/>
                </a:solidFill>
              </a:rPr>
              <a:t>Power BI – Problem Statements with solutions and Insights</a:t>
            </a:r>
          </a:p>
        </p:txBody>
      </p:sp>
    </p:spTree>
    <p:extLst>
      <p:ext uri="{BB962C8B-B14F-4D97-AF65-F5344CB8AC3E}">
        <p14:creationId xmlns:p14="http://schemas.microsoft.com/office/powerpoint/2010/main" val="293711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the world with different colored circles&#10;&#10;AI-generated content may be incorrect.">
            <a:extLst>
              <a:ext uri="{FF2B5EF4-FFF2-40B4-BE49-F238E27FC236}">
                <a16:creationId xmlns:a16="http://schemas.microsoft.com/office/drawing/2014/main" id="{B0642A2C-5D2B-5085-F7CD-36A796E24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61728"/>
            <a:ext cx="10905066" cy="493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40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CC32B3B6-5C84-22A9-8BA8-8F96B8364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11784"/>
            <a:ext cx="10905066" cy="523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51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e chart with a blue and yellow text&#10;&#10;AI-generated content may be incorrect.">
            <a:extLst>
              <a:ext uri="{FF2B5EF4-FFF2-40B4-BE49-F238E27FC236}">
                <a16:creationId xmlns:a16="http://schemas.microsoft.com/office/drawing/2014/main" id="{92F02617-A5E7-04D7-95CE-BCE10C2B8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57258"/>
            <a:ext cx="10905066" cy="534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03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44B64176-F552-33D4-B9E4-603FE5042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4521"/>
            <a:ext cx="10905066" cy="528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61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AC6B94-1F3E-6AEA-2B54-E695EA96C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hart with blue and green bars&#10;&#10;AI-generated content may be incorrect.">
            <a:extLst>
              <a:ext uri="{FF2B5EF4-FFF2-40B4-BE49-F238E27FC236}">
                <a16:creationId xmlns:a16="http://schemas.microsoft.com/office/drawing/2014/main" id="{F1A920D2-ECE7-0973-BAF0-7528F61A9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61839"/>
            <a:ext cx="10905066" cy="55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04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E4A1E-BB68-878D-55E0-473A2AD4A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bar chart&#10;&#10;AI-generated content may be incorrect.">
            <a:extLst>
              <a:ext uri="{FF2B5EF4-FFF2-40B4-BE49-F238E27FC236}">
                <a16:creationId xmlns:a16="http://schemas.microsoft.com/office/drawing/2014/main" id="{A6C8F579-4603-BDC2-1C45-E1D4BCE04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18" y="643466"/>
            <a:ext cx="9618665" cy="581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493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2CF06-1454-BBD0-2B74-DB77B536F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5FD0C9-CDED-4252-28A7-574FD4975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30" y="643466"/>
            <a:ext cx="1022214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666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0CF7DF-6E25-BC7C-A414-3ED5BECDA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blue and white stripes&#10;&#10;AI-generated content may be incorrect.">
            <a:extLst>
              <a:ext uri="{FF2B5EF4-FFF2-40B4-BE49-F238E27FC236}">
                <a16:creationId xmlns:a16="http://schemas.microsoft.com/office/drawing/2014/main" id="{1D45F49B-4CC4-DF90-64B5-6C6AC1032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" r="5626"/>
          <a:stretch>
            <a:fillRect/>
          </a:stretch>
        </p:blipFill>
        <p:spPr>
          <a:xfrm>
            <a:off x="702976" y="643466"/>
            <a:ext cx="1078604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17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46400-C381-07BB-EB0A-62409E4F3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37947E-252D-A58A-0729-D677367264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677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9AE4A-3DCE-526A-4749-92B8442F0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blue squares&#10;&#10;AI-generated content may be incorrect.">
            <a:extLst>
              <a:ext uri="{FF2B5EF4-FFF2-40B4-BE49-F238E27FC236}">
                <a16:creationId xmlns:a16="http://schemas.microsoft.com/office/drawing/2014/main" id="{2BDF9599-2E10-B873-2B92-8C4C4F354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21" y="643466"/>
            <a:ext cx="1061155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101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F8270-27C5-3ACD-005C-B6CEE64C4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hart with different colors&#10;&#10;AI-generated content may be incorrect.">
            <a:extLst>
              <a:ext uri="{FF2B5EF4-FFF2-40B4-BE49-F238E27FC236}">
                <a16:creationId xmlns:a16="http://schemas.microsoft.com/office/drawing/2014/main" id="{4AC00B64-246C-14B4-132F-6AE878369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07203"/>
            <a:ext cx="10905066" cy="504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59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3AA7A-D9EA-EB8F-945B-E609393BD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blue and green squares&#10;&#10;AI-generated content may be incorrect.">
            <a:extLst>
              <a:ext uri="{FF2B5EF4-FFF2-40B4-BE49-F238E27FC236}">
                <a16:creationId xmlns:a16="http://schemas.microsoft.com/office/drawing/2014/main" id="{B6CEAE7D-2D68-00F9-8D86-1B14FB20A1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89102"/>
            <a:ext cx="10905066" cy="547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53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082506-932B-04DF-A754-039D66F0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1BED1633-EAAB-27A1-F60E-BB8D3125B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89102"/>
            <a:ext cx="10905066" cy="547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85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different colors&#10;&#10;AI-generated content may be incorrect.">
            <a:extLst>
              <a:ext uri="{FF2B5EF4-FFF2-40B4-BE49-F238E27FC236}">
                <a16:creationId xmlns:a16="http://schemas.microsoft.com/office/drawing/2014/main" id="{DB8A52A5-22D5-0DD8-847F-1B4707846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70890"/>
            <a:ext cx="10905066" cy="531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36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the world&#10;&#10;AI-generated content may be incorrect.">
            <a:extLst>
              <a:ext uri="{FF2B5EF4-FFF2-40B4-BE49-F238E27FC236}">
                <a16:creationId xmlns:a16="http://schemas.microsoft.com/office/drawing/2014/main" id="{22D777B4-647B-4675-A72D-277379097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04378"/>
            <a:ext cx="10515600" cy="5001619"/>
          </a:xfrm>
        </p:spPr>
      </p:pic>
    </p:spTree>
    <p:extLst>
      <p:ext uri="{BB962C8B-B14F-4D97-AF65-F5344CB8AC3E}">
        <p14:creationId xmlns:p14="http://schemas.microsoft.com/office/powerpoint/2010/main" val="2971887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4F40C-C0FF-252F-7A75-02C6825E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682" y="1562669"/>
            <a:ext cx="7886700" cy="24565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SQL &amp; Excel – Problem Statements with Solutions &amp; Insights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 descr="Pen placed on top of a signature line">
            <a:extLst>
              <a:ext uri="{FF2B5EF4-FFF2-40B4-BE49-F238E27FC236}">
                <a16:creationId xmlns:a16="http://schemas.microsoft.com/office/drawing/2014/main" id="{C22040F5-8CEE-5FAC-525A-8B3B76473E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575" r="7681" b="-1"/>
          <a:stretch>
            <a:fillRect/>
          </a:stretch>
        </p:blipFill>
        <p:spPr>
          <a:xfrm>
            <a:off x="-7266" y="10"/>
            <a:ext cx="3569616" cy="6857990"/>
          </a:xfrm>
          <a:custGeom>
            <a:avLst/>
            <a:gdLst/>
            <a:ahLst/>
            <a:cxnLst/>
            <a:rect l="l" t="t" r="r" b="b"/>
            <a:pathLst>
              <a:path w="3569616" h="6858000">
                <a:moveTo>
                  <a:pt x="0" y="0"/>
                </a:moveTo>
                <a:lnTo>
                  <a:pt x="3119345" y="0"/>
                </a:lnTo>
                <a:lnTo>
                  <a:pt x="3123529" y="17226"/>
                </a:lnTo>
                <a:cubicBezTo>
                  <a:pt x="3124924" y="23927"/>
                  <a:pt x="3126075" y="29690"/>
                  <a:pt x="3127926" y="35733"/>
                </a:cubicBezTo>
                <a:cubicBezTo>
                  <a:pt x="3135983" y="55162"/>
                  <a:pt x="3152761" y="75163"/>
                  <a:pt x="3158476" y="86830"/>
                </a:cubicBezTo>
                <a:lnTo>
                  <a:pt x="3162217" y="105744"/>
                </a:lnTo>
                <a:lnTo>
                  <a:pt x="3166997" y="104727"/>
                </a:lnTo>
                <a:lnTo>
                  <a:pt x="3167793" y="111793"/>
                </a:lnTo>
                <a:lnTo>
                  <a:pt x="3168896" y="127609"/>
                </a:lnTo>
                <a:cubicBezTo>
                  <a:pt x="3170241" y="137435"/>
                  <a:pt x="3170795" y="164972"/>
                  <a:pt x="3173185" y="174906"/>
                </a:cubicBezTo>
                <a:cubicBezTo>
                  <a:pt x="3178510" y="177461"/>
                  <a:pt x="3181593" y="181749"/>
                  <a:pt x="3183238" y="187215"/>
                </a:cubicBezTo>
                <a:lnTo>
                  <a:pt x="3184145" y="199435"/>
                </a:lnTo>
                <a:lnTo>
                  <a:pt x="3200957" y="269529"/>
                </a:lnTo>
                <a:lnTo>
                  <a:pt x="3202491" y="279219"/>
                </a:lnTo>
                <a:lnTo>
                  <a:pt x="3206975" y="284221"/>
                </a:lnTo>
                <a:cubicBezTo>
                  <a:pt x="3208056" y="288198"/>
                  <a:pt x="3208241" y="299815"/>
                  <a:pt x="3208979" y="303078"/>
                </a:cubicBezTo>
                <a:cubicBezTo>
                  <a:pt x="3209786" y="303316"/>
                  <a:pt x="3210593" y="303555"/>
                  <a:pt x="3211400" y="303794"/>
                </a:cubicBezTo>
                <a:cubicBezTo>
                  <a:pt x="3215834" y="314048"/>
                  <a:pt x="3230882" y="352723"/>
                  <a:pt x="3235583" y="364595"/>
                </a:cubicBezTo>
                <a:cubicBezTo>
                  <a:pt x="3232098" y="367263"/>
                  <a:pt x="3238178" y="372307"/>
                  <a:pt x="3239601" y="375020"/>
                </a:cubicBezTo>
                <a:cubicBezTo>
                  <a:pt x="3237179" y="375617"/>
                  <a:pt x="3236854" y="382439"/>
                  <a:pt x="3239157" y="384290"/>
                </a:cubicBezTo>
                <a:cubicBezTo>
                  <a:pt x="3254070" y="431093"/>
                  <a:pt x="3227895" y="408920"/>
                  <a:pt x="3245230" y="435044"/>
                </a:cubicBezTo>
                <a:cubicBezTo>
                  <a:pt x="3246565" y="439781"/>
                  <a:pt x="3245820" y="443743"/>
                  <a:pt x="3244204" y="447282"/>
                </a:cubicBezTo>
                <a:lnTo>
                  <a:pt x="3240762" y="452630"/>
                </a:lnTo>
                <a:lnTo>
                  <a:pt x="3249093" y="471880"/>
                </a:lnTo>
                <a:cubicBezTo>
                  <a:pt x="3252174" y="481431"/>
                  <a:pt x="3254453" y="491548"/>
                  <a:pt x="3255857" y="501992"/>
                </a:cubicBezTo>
                <a:cubicBezTo>
                  <a:pt x="3250999" y="504682"/>
                  <a:pt x="3258622" y="512442"/>
                  <a:pt x="3260271" y="516223"/>
                </a:cubicBezTo>
                <a:cubicBezTo>
                  <a:pt x="3257006" y="516482"/>
                  <a:pt x="3255973" y="525173"/>
                  <a:pt x="3258865" y="528038"/>
                </a:cubicBezTo>
                <a:cubicBezTo>
                  <a:pt x="3274535" y="591283"/>
                  <a:pt x="3241762" y="557303"/>
                  <a:pt x="3262462" y="594499"/>
                </a:cubicBezTo>
                <a:cubicBezTo>
                  <a:pt x="3263816" y="600863"/>
                  <a:pt x="3262479" y="605795"/>
                  <a:pt x="3260024" y="610000"/>
                </a:cubicBezTo>
                <a:lnTo>
                  <a:pt x="3253721" y="617692"/>
                </a:lnTo>
                <a:lnTo>
                  <a:pt x="3256482" y="623204"/>
                </a:lnTo>
                <a:cubicBezTo>
                  <a:pt x="3258005" y="644600"/>
                  <a:pt x="3251476" y="651376"/>
                  <a:pt x="3259225" y="663365"/>
                </a:cubicBezTo>
                <a:cubicBezTo>
                  <a:pt x="3245876" y="682744"/>
                  <a:pt x="3258539" y="675670"/>
                  <a:pt x="3261631" y="689522"/>
                </a:cubicBezTo>
                <a:cubicBezTo>
                  <a:pt x="3265207" y="700373"/>
                  <a:pt x="3269507" y="679723"/>
                  <a:pt x="3271002" y="690492"/>
                </a:cubicBezTo>
                <a:cubicBezTo>
                  <a:pt x="3267989" y="702455"/>
                  <a:pt x="3279578" y="701125"/>
                  <a:pt x="3275760" y="713609"/>
                </a:cubicBezTo>
                <a:cubicBezTo>
                  <a:pt x="3266819" y="711239"/>
                  <a:pt x="3278954" y="737528"/>
                  <a:pt x="3271356" y="738880"/>
                </a:cubicBezTo>
                <a:cubicBezTo>
                  <a:pt x="3282938" y="748490"/>
                  <a:pt x="3269788" y="754591"/>
                  <a:pt x="3274016" y="768139"/>
                </a:cubicBezTo>
                <a:cubicBezTo>
                  <a:pt x="3278559" y="774347"/>
                  <a:pt x="3279560" y="778980"/>
                  <a:pt x="3275507" y="785654"/>
                </a:cubicBezTo>
                <a:cubicBezTo>
                  <a:pt x="3297514" y="814181"/>
                  <a:pt x="3277534" y="803670"/>
                  <a:pt x="3287024" y="831111"/>
                </a:cubicBezTo>
                <a:cubicBezTo>
                  <a:pt x="3296672" y="854655"/>
                  <a:pt x="3303659" y="881610"/>
                  <a:pt x="3324562" y="903604"/>
                </a:cubicBezTo>
                <a:cubicBezTo>
                  <a:pt x="3330338" y="907511"/>
                  <a:pt x="3333079" y="917872"/>
                  <a:pt x="3330682" y="926744"/>
                </a:cubicBezTo>
                <a:cubicBezTo>
                  <a:pt x="3330269" y="928269"/>
                  <a:pt x="3329716" y="929694"/>
                  <a:pt x="3329041" y="930971"/>
                </a:cubicBezTo>
                <a:cubicBezTo>
                  <a:pt x="3333270" y="950914"/>
                  <a:pt x="3351150" y="1023696"/>
                  <a:pt x="3356062" y="1046405"/>
                </a:cubicBezTo>
                <a:cubicBezTo>
                  <a:pt x="3349099" y="1048737"/>
                  <a:pt x="3362597" y="1059482"/>
                  <a:pt x="3358521" y="1067217"/>
                </a:cubicBezTo>
                <a:cubicBezTo>
                  <a:pt x="3354869" y="1072807"/>
                  <a:pt x="3358113" y="1077371"/>
                  <a:pt x="3358773" y="1082909"/>
                </a:cubicBezTo>
                <a:cubicBezTo>
                  <a:pt x="3356098" y="1090444"/>
                  <a:pt x="3363241" y="1113953"/>
                  <a:pt x="3367682" y="1119909"/>
                </a:cubicBezTo>
                <a:cubicBezTo>
                  <a:pt x="3382703" y="1133847"/>
                  <a:pt x="3374343" y="1168367"/>
                  <a:pt x="3385911" y="1180009"/>
                </a:cubicBezTo>
                <a:cubicBezTo>
                  <a:pt x="3387774" y="1184389"/>
                  <a:pt x="3388688" y="1188737"/>
                  <a:pt x="3389010" y="1193041"/>
                </a:cubicBezTo>
                <a:lnTo>
                  <a:pt x="3388572" y="1205179"/>
                </a:lnTo>
                <a:lnTo>
                  <a:pt x="3385768" y="1208811"/>
                </a:lnTo>
                <a:lnTo>
                  <a:pt x="3386975" y="1216129"/>
                </a:lnTo>
                <a:lnTo>
                  <a:pt x="3386647" y="1218271"/>
                </a:lnTo>
                <a:cubicBezTo>
                  <a:pt x="3386007" y="1222365"/>
                  <a:pt x="3385480" y="1226399"/>
                  <a:pt x="3385420" y="1230360"/>
                </a:cubicBezTo>
                <a:cubicBezTo>
                  <a:pt x="3400233" y="1224163"/>
                  <a:pt x="3387342" y="1263034"/>
                  <a:pt x="3398902" y="1251303"/>
                </a:cubicBezTo>
                <a:cubicBezTo>
                  <a:pt x="3401143" y="1271991"/>
                  <a:pt x="3411558" y="1255397"/>
                  <a:pt x="3402244" y="1281071"/>
                </a:cubicBezTo>
                <a:cubicBezTo>
                  <a:pt x="3416627" y="1312459"/>
                  <a:pt x="3415183" y="1363554"/>
                  <a:pt x="3435533" y="1387530"/>
                </a:cubicBezTo>
                <a:cubicBezTo>
                  <a:pt x="3428168" y="1384876"/>
                  <a:pt x="3423452" y="1398828"/>
                  <a:pt x="3427595" y="1407995"/>
                </a:cubicBezTo>
                <a:cubicBezTo>
                  <a:pt x="3398778" y="1398886"/>
                  <a:pt x="3455260" y="1443485"/>
                  <a:pt x="3436580" y="1453051"/>
                </a:cubicBezTo>
                <a:cubicBezTo>
                  <a:pt x="3454427" y="1452263"/>
                  <a:pt x="3487273" y="1492392"/>
                  <a:pt x="3473886" y="1513215"/>
                </a:cubicBezTo>
                <a:cubicBezTo>
                  <a:pt x="3479337" y="1543203"/>
                  <a:pt x="3495403" y="1563620"/>
                  <a:pt x="3491486" y="1595707"/>
                </a:cubicBezTo>
                <a:cubicBezTo>
                  <a:pt x="3493932" y="1596530"/>
                  <a:pt x="3496028" y="1598008"/>
                  <a:pt x="3497869" y="1599939"/>
                </a:cubicBezTo>
                <a:lnTo>
                  <a:pt x="3502453" y="1606503"/>
                </a:lnTo>
                <a:lnTo>
                  <a:pt x="3502232" y="1607846"/>
                </a:lnTo>
                <a:cubicBezTo>
                  <a:pt x="3502503" y="1613048"/>
                  <a:pt x="3503673" y="1615641"/>
                  <a:pt x="3505239" y="1617081"/>
                </a:cubicBezTo>
                <a:cubicBezTo>
                  <a:pt x="3505979" y="1617395"/>
                  <a:pt x="3506719" y="1617710"/>
                  <a:pt x="3507459" y="1618024"/>
                </a:cubicBezTo>
                <a:lnTo>
                  <a:pt x="3510011" y="1624022"/>
                </a:lnTo>
                <a:lnTo>
                  <a:pt x="3516358" y="1634929"/>
                </a:lnTo>
                <a:lnTo>
                  <a:pt x="3516308" y="1637821"/>
                </a:lnTo>
                <a:lnTo>
                  <a:pt x="3523955" y="1655598"/>
                </a:lnTo>
                <a:lnTo>
                  <a:pt x="3523473" y="1656247"/>
                </a:lnTo>
                <a:cubicBezTo>
                  <a:pt x="3522567" y="1658107"/>
                  <a:pt x="3522227" y="1660249"/>
                  <a:pt x="3523061" y="1663024"/>
                </a:cubicBezTo>
                <a:cubicBezTo>
                  <a:pt x="3513175" y="1664689"/>
                  <a:pt x="3520280" y="1667013"/>
                  <a:pt x="3523616" y="1675054"/>
                </a:cubicBezTo>
                <a:cubicBezTo>
                  <a:pt x="3509006" y="1679436"/>
                  <a:pt x="3523682" y="1698702"/>
                  <a:pt x="3517630" y="1707801"/>
                </a:cubicBezTo>
                <a:cubicBezTo>
                  <a:pt x="3520410" y="1713612"/>
                  <a:pt x="3523083" y="1719836"/>
                  <a:pt x="3525537" y="1726380"/>
                </a:cubicBezTo>
                <a:lnTo>
                  <a:pt x="3529903" y="1779986"/>
                </a:lnTo>
                <a:lnTo>
                  <a:pt x="3521468" y="1836998"/>
                </a:lnTo>
                <a:cubicBezTo>
                  <a:pt x="3522502" y="1857808"/>
                  <a:pt x="3519191" y="1876110"/>
                  <a:pt x="3523412" y="1893497"/>
                </a:cubicBezTo>
                <a:cubicBezTo>
                  <a:pt x="3520411" y="1900876"/>
                  <a:pt x="3519436" y="1907708"/>
                  <a:pt x="3525004" y="1913894"/>
                </a:cubicBezTo>
                <a:cubicBezTo>
                  <a:pt x="3524490" y="1933413"/>
                  <a:pt x="3517414" y="1938604"/>
                  <a:pt x="3523928" y="1950514"/>
                </a:cubicBezTo>
                <a:cubicBezTo>
                  <a:pt x="3512685" y="1962215"/>
                  <a:pt x="3517275" y="1962555"/>
                  <a:pt x="3521008" y="1967449"/>
                </a:cubicBezTo>
                <a:lnTo>
                  <a:pt x="3521297" y="1968163"/>
                </a:lnTo>
                <a:lnTo>
                  <a:pt x="3519686" y="1969768"/>
                </a:lnTo>
                <a:lnTo>
                  <a:pt x="3519089" y="1972904"/>
                </a:lnTo>
                <a:lnTo>
                  <a:pt x="3520122" y="1981289"/>
                </a:lnTo>
                <a:lnTo>
                  <a:pt x="3520948" y="1984413"/>
                </a:lnTo>
                <a:cubicBezTo>
                  <a:pt x="3521356" y="1986575"/>
                  <a:pt x="3521416" y="1988026"/>
                  <a:pt x="3521226" y="1989046"/>
                </a:cubicBezTo>
                <a:lnTo>
                  <a:pt x="3521092" y="1989171"/>
                </a:lnTo>
                <a:lnTo>
                  <a:pt x="3521624" y="1993492"/>
                </a:lnTo>
                <a:cubicBezTo>
                  <a:pt x="3522844" y="2000762"/>
                  <a:pt x="3524332" y="2007819"/>
                  <a:pt x="3525996" y="2014518"/>
                </a:cubicBezTo>
                <a:cubicBezTo>
                  <a:pt x="3518529" y="2020777"/>
                  <a:pt x="3529333" y="2045218"/>
                  <a:pt x="3514412" y="2043465"/>
                </a:cubicBezTo>
                <a:cubicBezTo>
                  <a:pt x="3516219" y="2052531"/>
                  <a:pt x="3522688" y="2057653"/>
                  <a:pt x="3512822" y="2055222"/>
                </a:cubicBezTo>
                <a:cubicBezTo>
                  <a:pt x="3513140" y="2058224"/>
                  <a:pt x="3512432" y="2060136"/>
                  <a:pt x="3511227" y="2061550"/>
                </a:cubicBezTo>
                <a:lnTo>
                  <a:pt x="3510645" y="2061975"/>
                </a:lnTo>
                <a:lnTo>
                  <a:pt x="3514907" y="2082129"/>
                </a:lnTo>
                <a:lnTo>
                  <a:pt x="3514347" y="2084880"/>
                </a:lnTo>
                <a:lnTo>
                  <a:pt x="3518565" y="2097919"/>
                </a:lnTo>
                <a:lnTo>
                  <a:pt x="3519976" y="2104707"/>
                </a:lnTo>
                <a:lnTo>
                  <a:pt x="3521958" y="2106519"/>
                </a:lnTo>
                <a:cubicBezTo>
                  <a:pt x="3523219" y="2108534"/>
                  <a:pt x="3523895" y="2111498"/>
                  <a:pt x="3523237" y="2116590"/>
                </a:cubicBezTo>
                <a:lnTo>
                  <a:pt x="3522786" y="2117790"/>
                </a:lnTo>
                <a:lnTo>
                  <a:pt x="3526064" y="2125947"/>
                </a:lnTo>
                <a:cubicBezTo>
                  <a:pt x="3527505" y="2128548"/>
                  <a:pt x="3529274" y="2130818"/>
                  <a:pt x="3531495" y="2132603"/>
                </a:cubicBezTo>
                <a:cubicBezTo>
                  <a:pt x="3522034" y="2161762"/>
                  <a:pt x="3533978" y="2187874"/>
                  <a:pt x="3533955" y="2218836"/>
                </a:cubicBezTo>
                <a:cubicBezTo>
                  <a:pt x="3517312" y="2233337"/>
                  <a:pt x="3542024" y="2285180"/>
                  <a:pt x="3559442" y="2291697"/>
                </a:cubicBezTo>
                <a:cubicBezTo>
                  <a:pt x="3544608" y="2292866"/>
                  <a:pt x="3567228" y="2330146"/>
                  <a:pt x="3568373" y="2340076"/>
                </a:cubicBezTo>
                <a:cubicBezTo>
                  <a:pt x="3568755" y="2343387"/>
                  <a:pt x="3566751" y="2343658"/>
                  <a:pt x="3560178" y="2338540"/>
                </a:cubicBezTo>
                <a:cubicBezTo>
                  <a:pt x="3562571" y="2349015"/>
                  <a:pt x="3555536" y="2360463"/>
                  <a:pt x="3548875" y="2354921"/>
                </a:cubicBezTo>
                <a:cubicBezTo>
                  <a:pt x="3564342" y="2386191"/>
                  <a:pt x="3553912" y="2434573"/>
                  <a:pt x="3562290" y="2470516"/>
                </a:cubicBezTo>
                <a:cubicBezTo>
                  <a:pt x="3548732" y="2491328"/>
                  <a:pt x="3561750" y="2479665"/>
                  <a:pt x="3560263" y="2500409"/>
                </a:cubicBezTo>
                <a:cubicBezTo>
                  <a:pt x="3573531" y="2493872"/>
                  <a:pt x="3554177" y="2525877"/>
                  <a:pt x="3569616" y="2525972"/>
                </a:cubicBezTo>
                <a:cubicBezTo>
                  <a:pt x="3568857" y="2529744"/>
                  <a:pt x="3567635" y="2533395"/>
                  <a:pt x="3566291" y="2537057"/>
                </a:cubicBezTo>
                <a:lnTo>
                  <a:pt x="3565595" y="2538979"/>
                </a:lnTo>
                <a:lnTo>
                  <a:pt x="3565471" y="2546483"/>
                </a:lnTo>
                <a:lnTo>
                  <a:pt x="3562111" y="2548822"/>
                </a:lnTo>
                <a:lnTo>
                  <a:pt x="3559542" y="2560277"/>
                </a:lnTo>
                <a:cubicBezTo>
                  <a:pt x="3559093" y="2564534"/>
                  <a:pt x="3559212" y="2569074"/>
                  <a:pt x="3560240" y="2574030"/>
                </a:cubicBezTo>
                <a:cubicBezTo>
                  <a:pt x="3567097" y="2585933"/>
                  <a:pt x="3560828" y="2605604"/>
                  <a:pt x="3562359" y="2622912"/>
                </a:cubicBezTo>
                <a:lnTo>
                  <a:pt x="3564740" y="2630748"/>
                </a:lnTo>
                <a:lnTo>
                  <a:pt x="3563214" y="2656947"/>
                </a:lnTo>
                <a:cubicBezTo>
                  <a:pt x="3563065" y="2664385"/>
                  <a:pt x="3563222" y="2672085"/>
                  <a:pt x="3563949" y="2680153"/>
                </a:cubicBezTo>
                <a:lnTo>
                  <a:pt x="3566383" y="2695058"/>
                </a:lnTo>
                <a:lnTo>
                  <a:pt x="3565385" y="2699075"/>
                </a:lnTo>
                <a:cubicBezTo>
                  <a:pt x="3565951" y="2705917"/>
                  <a:pt x="3570892" y="2714690"/>
                  <a:pt x="3565525" y="2714239"/>
                </a:cubicBezTo>
                <a:lnTo>
                  <a:pt x="3567847" y="2721812"/>
                </a:lnTo>
                <a:lnTo>
                  <a:pt x="3564077" y="2729693"/>
                </a:lnTo>
                <a:cubicBezTo>
                  <a:pt x="3563144" y="2730592"/>
                  <a:pt x="3562134" y="2731288"/>
                  <a:pt x="3561085" y="2731758"/>
                </a:cubicBezTo>
                <a:lnTo>
                  <a:pt x="3563149" y="2742418"/>
                </a:lnTo>
                <a:lnTo>
                  <a:pt x="3560661" y="2751437"/>
                </a:lnTo>
                <a:lnTo>
                  <a:pt x="3563126" y="2758989"/>
                </a:lnTo>
                <a:lnTo>
                  <a:pt x="3562876" y="2762207"/>
                </a:lnTo>
                <a:lnTo>
                  <a:pt x="3561866" y="2770236"/>
                </a:lnTo>
                <a:cubicBezTo>
                  <a:pt x="3561066" y="2774372"/>
                  <a:pt x="3560080" y="2779005"/>
                  <a:pt x="3559378" y="2784138"/>
                </a:cubicBezTo>
                <a:lnTo>
                  <a:pt x="3559178" y="2788436"/>
                </a:lnTo>
                <a:lnTo>
                  <a:pt x="3554648" y="2798068"/>
                </a:lnTo>
                <a:cubicBezTo>
                  <a:pt x="3551209" y="2805087"/>
                  <a:pt x="3548936" y="2810580"/>
                  <a:pt x="3551400" y="2816345"/>
                </a:cubicBezTo>
                <a:cubicBezTo>
                  <a:pt x="3547036" y="2826742"/>
                  <a:pt x="3533490" y="2834711"/>
                  <a:pt x="3538128" y="2849028"/>
                </a:cubicBezTo>
                <a:cubicBezTo>
                  <a:pt x="3531517" y="2845031"/>
                  <a:pt x="3538369" y="2865256"/>
                  <a:pt x="3532013" y="2868126"/>
                </a:cubicBezTo>
                <a:cubicBezTo>
                  <a:pt x="3526842" y="2869601"/>
                  <a:pt x="3527715" y="2876080"/>
                  <a:pt x="3526094" y="2881167"/>
                </a:cubicBezTo>
                <a:cubicBezTo>
                  <a:pt x="3520961" y="2885059"/>
                  <a:pt x="3517628" y="2910333"/>
                  <a:pt x="3518939" y="2918966"/>
                </a:cubicBezTo>
                <a:cubicBezTo>
                  <a:pt x="3525789" y="2943088"/>
                  <a:pt x="3505468" y="2964225"/>
                  <a:pt x="3510391" y="2983548"/>
                </a:cubicBezTo>
                <a:cubicBezTo>
                  <a:pt x="3510204" y="2988707"/>
                  <a:pt x="3509257" y="2993036"/>
                  <a:pt x="3507840" y="2996827"/>
                </a:cubicBezTo>
                <a:lnTo>
                  <a:pt x="3502741" y="3006379"/>
                </a:lnTo>
                <a:lnTo>
                  <a:pt x="3499028" y="3006971"/>
                </a:lnTo>
                <a:lnTo>
                  <a:pt x="3497157" y="3013976"/>
                </a:lnTo>
                <a:lnTo>
                  <a:pt x="3496053" y="3015450"/>
                </a:lnTo>
                <a:cubicBezTo>
                  <a:pt x="3493931" y="3018255"/>
                  <a:pt x="3491925" y="3021106"/>
                  <a:pt x="3490329" y="3024292"/>
                </a:cubicBezTo>
                <a:cubicBezTo>
                  <a:pt x="3504872" y="3031782"/>
                  <a:pt x="3479143" y="3052632"/>
                  <a:pt x="3493186" y="3052840"/>
                </a:cubicBezTo>
                <a:cubicBezTo>
                  <a:pt x="3486942" y="3071654"/>
                  <a:pt x="3501947" y="3066916"/>
                  <a:pt x="3484298" y="3080007"/>
                </a:cubicBezTo>
                <a:cubicBezTo>
                  <a:pt x="3483814" y="3117860"/>
                  <a:pt x="3462683" y="3158406"/>
                  <a:pt x="3469977" y="3195253"/>
                </a:cubicBezTo>
                <a:cubicBezTo>
                  <a:pt x="3464984" y="3186842"/>
                  <a:pt x="3455676" y="3194249"/>
                  <a:pt x="3455490" y="3205255"/>
                </a:cubicBezTo>
                <a:cubicBezTo>
                  <a:pt x="3435461" y="3173385"/>
                  <a:pt x="3464274" y="3257718"/>
                  <a:pt x="3445250" y="3249703"/>
                </a:cubicBezTo>
                <a:cubicBezTo>
                  <a:pt x="3460163" y="3264187"/>
                  <a:pt x="3471377" y="3324835"/>
                  <a:pt x="3452291" y="3330508"/>
                </a:cubicBezTo>
                <a:cubicBezTo>
                  <a:pt x="3445043" y="3359645"/>
                  <a:pt x="3450218" y="3389952"/>
                  <a:pt x="3434486" y="3412864"/>
                </a:cubicBezTo>
                <a:cubicBezTo>
                  <a:pt x="3436166" y="3415609"/>
                  <a:pt x="3437306" y="3418595"/>
                  <a:pt x="3438058" y="3421734"/>
                </a:cubicBezTo>
                <a:lnTo>
                  <a:pt x="3439245" y="3430986"/>
                </a:lnTo>
                <a:lnTo>
                  <a:pt x="3438541" y="3431897"/>
                </a:lnTo>
                <a:cubicBezTo>
                  <a:pt x="3436732" y="3436375"/>
                  <a:pt x="3436677" y="3439488"/>
                  <a:pt x="3437396" y="3441992"/>
                </a:cubicBezTo>
                <a:lnTo>
                  <a:pt x="3438843" y="3444647"/>
                </a:lnTo>
                <a:lnTo>
                  <a:pt x="3438591" y="3451712"/>
                </a:lnTo>
                <a:lnTo>
                  <a:pt x="3439527" y="3466008"/>
                </a:lnTo>
                <a:lnTo>
                  <a:pt x="3438357" y="3468331"/>
                </a:lnTo>
                <a:lnTo>
                  <a:pt x="3437674" y="3489343"/>
                </a:lnTo>
                <a:cubicBezTo>
                  <a:pt x="3437459" y="3489383"/>
                  <a:pt x="3437241" y="3489424"/>
                  <a:pt x="3437026" y="3489465"/>
                </a:cubicBezTo>
                <a:cubicBezTo>
                  <a:pt x="3435558" y="3490219"/>
                  <a:pt x="3434444" y="3491679"/>
                  <a:pt x="3434044" y="3494659"/>
                </a:cubicBezTo>
                <a:cubicBezTo>
                  <a:pt x="3425302" y="3487640"/>
                  <a:pt x="3430211" y="3495561"/>
                  <a:pt x="3429800" y="3504965"/>
                </a:cubicBezTo>
                <a:cubicBezTo>
                  <a:pt x="3416132" y="3496161"/>
                  <a:pt x="3420620" y="3524348"/>
                  <a:pt x="3412115" y="3526661"/>
                </a:cubicBezTo>
                <a:cubicBezTo>
                  <a:pt x="3412121" y="3533765"/>
                  <a:pt x="3411879" y="3541120"/>
                  <a:pt x="3411331" y="3548549"/>
                </a:cubicBezTo>
                <a:lnTo>
                  <a:pt x="3410824" y="3552872"/>
                </a:lnTo>
                <a:cubicBezTo>
                  <a:pt x="3410773" y="3552889"/>
                  <a:pt x="3410721" y="3552908"/>
                  <a:pt x="3410671" y="3552926"/>
                </a:cubicBezTo>
                <a:cubicBezTo>
                  <a:pt x="3410254" y="3553793"/>
                  <a:pt x="3409971" y="3555188"/>
                  <a:pt x="3409849" y="3557419"/>
                </a:cubicBezTo>
                <a:lnTo>
                  <a:pt x="3409902" y="3560756"/>
                </a:lnTo>
                <a:lnTo>
                  <a:pt x="3408918" y="3569144"/>
                </a:lnTo>
                <a:lnTo>
                  <a:pt x="3407623" y="3571810"/>
                </a:lnTo>
                <a:lnTo>
                  <a:pt x="3405729" y="3572549"/>
                </a:lnTo>
                <a:lnTo>
                  <a:pt x="3405835" y="3573359"/>
                </a:lnTo>
                <a:cubicBezTo>
                  <a:pt x="3408214" y="3579757"/>
                  <a:pt x="3412465" y="3582275"/>
                  <a:pt x="3399129" y="3587902"/>
                </a:cubicBezTo>
                <a:cubicBezTo>
                  <a:pt x="3402495" y="3602236"/>
                  <a:pt x="3394605" y="3603730"/>
                  <a:pt x="3389566" y="3621859"/>
                </a:cubicBezTo>
                <a:cubicBezTo>
                  <a:pt x="3393374" y="3630350"/>
                  <a:pt x="3390863" y="3636316"/>
                  <a:pt x="3386307" y="3641820"/>
                </a:cubicBezTo>
                <a:cubicBezTo>
                  <a:pt x="3386232" y="3660214"/>
                  <a:pt x="3378837" y="3675854"/>
                  <a:pt x="3374956" y="3695940"/>
                </a:cubicBezTo>
                <a:cubicBezTo>
                  <a:pt x="3378387" y="3718839"/>
                  <a:pt x="3365817" y="3728358"/>
                  <a:pt x="3361718" y="3749831"/>
                </a:cubicBezTo>
                <a:cubicBezTo>
                  <a:pt x="3370064" y="3770267"/>
                  <a:pt x="3350403" y="3763879"/>
                  <a:pt x="3344768" y="3774338"/>
                </a:cubicBezTo>
                <a:lnTo>
                  <a:pt x="3343985" y="3777418"/>
                </a:lnTo>
                <a:lnTo>
                  <a:pt x="3344520" y="3785849"/>
                </a:lnTo>
                <a:lnTo>
                  <a:pt x="3345162" y="3789023"/>
                </a:lnTo>
                <a:cubicBezTo>
                  <a:pt x="3345441" y="3791209"/>
                  <a:pt x="3345415" y="3792659"/>
                  <a:pt x="3345164" y="3793659"/>
                </a:cubicBezTo>
                <a:lnTo>
                  <a:pt x="3345024" y="3793774"/>
                </a:lnTo>
                <a:lnTo>
                  <a:pt x="3345300" y="3798119"/>
                </a:lnTo>
                <a:cubicBezTo>
                  <a:pt x="3346087" y="3805456"/>
                  <a:pt x="3347157" y="3812596"/>
                  <a:pt x="3348424" y="3819398"/>
                </a:cubicBezTo>
                <a:cubicBezTo>
                  <a:pt x="3340590" y="3825065"/>
                  <a:pt x="3349940" y="3850234"/>
                  <a:pt x="3335133" y="3847354"/>
                </a:cubicBezTo>
                <a:cubicBezTo>
                  <a:pt x="3336403" y="3856524"/>
                  <a:pt x="3342565" y="3862118"/>
                  <a:pt x="3332848" y="3858945"/>
                </a:cubicBezTo>
                <a:cubicBezTo>
                  <a:pt x="3332988" y="3861961"/>
                  <a:pt x="3332168" y="3863811"/>
                  <a:pt x="3330878" y="3865128"/>
                </a:cubicBezTo>
                <a:lnTo>
                  <a:pt x="3330273" y="3865510"/>
                </a:lnTo>
                <a:lnTo>
                  <a:pt x="3333337" y="3885908"/>
                </a:lnTo>
                <a:lnTo>
                  <a:pt x="3332616" y="3888608"/>
                </a:lnTo>
                <a:lnTo>
                  <a:pt x="3336057" y="3901916"/>
                </a:lnTo>
                <a:lnTo>
                  <a:pt x="3337066" y="3908785"/>
                </a:lnTo>
                <a:lnTo>
                  <a:pt x="3338940" y="3910739"/>
                </a:lnTo>
                <a:cubicBezTo>
                  <a:pt x="3340082" y="3912843"/>
                  <a:pt x="3340580" y="3915849"/>
                  <a:pt x="3339621" y="3920873"/>
                </a:cubicBezTo>
                <a:lnTo>
                  <a:pt x="3339102" y="3922032"/>
                </a:lnTo>
                <a:lnTo>
                  <a:pt x="3341891" y="3930408"/>
                </a:lnTo>
                <a:cubicBezTo>
                  <a:pt x="3343178" y="3933107"/>
                  <a:pt x="3344812" y="3935503"/>
                  <a:pt x="3346927" y="3937451"/>
                </a:cubicBezTo>
                <a:cubicBezTo>
                  <a:pt x="3335745" y="3965779"/>
                  <a:pt x="3346136" y="3992699"/>
                  <a:pt x="3344279" y="4023542"/>
                </a:cubicBezTo>
                <a:cubicBezTo>
                  <a:pt x="3347024" y="4058096"/>
                  <a:pt x="3350783" y="4081986"/>
                  <a:pt x="3351926" y="4104769"/>
                </a:cubicBezTo>
                <a:cubicBezTo>
                  <a:pt x="3353695" y="4115384"/>
                  <a:pt x="3359144" y="4193344"/>
                  <a:pt x="3352816" y="4187317"/>
                </a:cubicBezTo>
                <a:cubicBezTo>
                  <a:pt x="3366419" y="4219638"/>
                  <a:pt x="3351446" y="4239971"/>
                  <a:pt x="3357691" y="4276413"/>
                </a:cubicBezTo>
                <a:cubicBezTo>
                  <a:pt x="3342910" y="4296116"/>
                  <a:pt x="3356610" y="4285488"/>
                  <a:pt x="3353895" y="4306037"/>
                </a:cubicBezTo>
                <a:cubicBezTo>
                  <a:pt x="3367541" y="4300534"/>
                  <a:pt x="3346306" y="4330948"/>
                  <a:pt x="3361728" y="4332215"/>
                </a:cubicBezTo>
                <a:cubicBezTo>
                  <a:pt x="3360746" y="4335915"/>
                  <a:pt x="3359307" y="4339458"/>
                  <a:pt x="3357748" y="4343006"/>
                </a:cubicBezTo>
                <a:lnTo>
                  <a:pt x="3356941" y="4344866"/>
                </a:lnTo>
                <a:lnTo>
                  <a:pt x="3356370" y="4352332"/>
                </a:lnTo>
                <a:lnTo>
                  <a:pt x="3352876" y="4354407"/>
                </a:lnTo>
                <a:lnTo>
                  <a:pt x="3352683" y="4444689"/>
                </a:lnTo>
                <a:cubicBezTo>
                  <a:pt x="3355485" y="4452425"/>
                  <a:pt x="3356736" y="4477980"/>
                  <a:pt x="3352455" y="4483791"/>
                </a:cubicBezTo>
                <a:cubicBezTo>
                  <a:pt x="3351784" y="4489320"/>
                  <a:pt x="3353780" y="4495171"/>
                  <a:pt x="3349030" y="4498683"/>
                </a:cubicBezTo>
                <a:cubicBezTo>
                  <a:pt x="3346858" y="4510741"/>
                  <a:pt x="3341860" y="4538358"/>
                  <a:pt x="3339427" y="4556140"/>
                </a:cubicBezTo>
                <a:cubicBezTo>
                  <a:pt x="3342836" y="4560659"/>
                  <a:pt x="3341611" y="4566842"/>
                  <a:pt x="3339521" y="4574959"/>
                </a:cubicBezTo>
                <a:lnTo>
                  <a:pt x="3338246" y="4582576"/>
                </a:lnTo>
                <a:lnTo>
                  <a:pt x="3348539" y="4605460"/>
                </a:lnTo>
                <a:lnTo>
                  <a:pt x="3345760" y="4678575"/>
                </a:lnTo>
                <a:lnTo>
                  <a:pt x="3356250" y="4713574"/>
                </a:lnTo>
                <a:cubicBezTo>
                  <a:pt x="3358600" y="4727943"/>
                  <a:pt x="3359577" y="4741820"/>
                  <a:pt x="3361380" y="4755215"/>
                </a:cubicBezTo>
                <a:cubicBezTo>
                  <a:pt x="3363928" y="4785596"/>
                  <a:pt x="3347531" y="4766123"/>
                  <a:pt x="3361636" y="4803525"/>
                </a:cubicBezTo>
                <a:cubicBezTo>
                  <a:pt x="3356254" y="4807867"/>
                  <a:pt x="3356117" y="4812705"/>
                  <a:pt x="3358957" y="4820729"/>
                </a:cubicBezTo>
                <a:cubicBezTo>
                  <a:pt x="3359783" y="4835507"/>
                  <a:pt x="3345952" y="4834947"/>
                  <a:pt x="3354635" y="4849546"/>
                </a:cubicBezTo>
                <a:cubicBezTo>
                  <a:pt x="3350894" y="4848362"/>
                  <a:pt x="3350351" y="4855411"/>
                  <a:pt x="3349759" y="4861941"/>
                </a:cubicBezTo>
                <a:lnTo>
                  <a:pt x="3347368" y="4866228"/>
                </a:lnTo>
                <a:lnTo>
                  <a:pt x="3358408" y="4889535"/>
                </a:lnTo>
                <a:cubicBezTo>
                  <a:pt x="3373705" y="4931282"/>
                  <a:pt x="3382233" y="4982216"/>
                  <a:pt x="3393319" y="5017998"/>
                </a:cubicBezTo>
                <a:cubicBezTo>
                  <a:pt x="3368256" y="5040241"/>
                  <a:pt x="3392200" y="5029364"/>
                  <a:pt x="3389184" y="5055049"/>
                </a:cubicBezTo>
                <a:cubicBezTo>
                  <a:pt x="3413510" y="5050695"/>
                  <a:pt x="3377700" y="5085342"/>
                  <a:pt x="3405892" y="5089973"/>
                </a:cubicBezTo>
                <a:cubicBezTo>
                  <a:pt x="3404451" y="5094499"/>
                  <a:pt x="3402165" y="5098741"/>
                  <a:pt x="3399662" y="5102960"/>
                </a:cubicBezTo>
                <a:lnTo>
                  <a:pt x="3398363" y="5105176"/>
                </a:lnTo>
                <a:lnTo>
                  <a:pt x="3398026" y="5114590"/>
                </a:lnTo>
                <a:lnTo>
                  <a:pt x="3391859" y="5116550"/>
                </a:lnTo>
                <a:lnTo>
                  <a:pt x="3386999" y="5130226"/>
                </a:lnTo>
                <a:cubicBezTo>
                  <a:pt x="3386119" y="5135455"/>
                  <a:pt x="3386267" y="5141205"/>
                  <a:pt x="3388073" y="5147747"/>
                </a:cubicBezTo>
                <a:cubicBezTo>
                  <a:pt x="3400425" y="5164741"/>
                  <a:pt x="3388688" y="5187675"/>
                  <a:pt x="3391234" y="5209919"/>
                </a:cubicBezTo>
                <a:lnTo>
                  <a:pt x="3395469" y="5220481"/>
                </a:lnTo>
                <a:lnTo>
                  <a:pt x="3392518" y="5250830"/>
                </a:lnTo>
                <a:lnTo>
                  <a:pt x="3393800" y="5252877"/>
                </a:lnTo>
                <a:cubicBezTo>
                  <a:pt x="3393941" y="5258188"/>
                  <a:pt x="3392357" y="5268832"/>
                  <a:pt x="3393361" y="5282697"/>
                </a:cubicBezTo>
                <a:lnTo>
                  <a:pt x="3399825" y="5336059"/>
                </a:lnTo>
                <a:lnTo>
                  <a:pt x="3392824" y="5344884"/>
                </a:lnTo>
                <a:lnTo>
                  <a:pt x="3389277" y="5345998"/>
                </a:lnTo>
                <a:lnTo>
                  <a:pt x="3390946" y="5360636"/>
                </a:lnTo>
                <a:lnTo>
                  <a:pt x="3386366" y="5371486"/>
                </a:lnTo>
                <a:lnTo>
                  <a:pt x="3390662" y="5381496"/>
                </a:lnTo>
                <a:lnTo>
                  <a:pt x="3388199" y="5395290"/>
                </a:lnTo>
                <a:cubicBezTo>
                  <a:pt x="3386677" y="5400263"/>
                  <a:pt x="3384810" y="5405812"/>
                  <a:pt x="3383455" y="5412069"/>
                </a:cubicBezTo>
                <a:lnTo>
                  <a:pt x="3376345" y="5426008"/>
                </a:lnTo>
                <a:lnTo>
                  <a:pt x="3374012" y="5448470"/>
                </a:lnTo>
                <a:cubicBezTo>
                  <a:pt x="3372358" y="5465848"/>
                  <a:pt x="3370199" y="5482458"/>
                  <a:pt x="3365299" y="5498771"/>
                </a:cubicBezTo>
                <a:cubicBezTo>
                  <a:pt x="3368242" y="5512292"/>
                  <a:pt x="3368289" y="5524931"/>
                  <a:pt x="3358774" y="5536815"/>
                </a:cubicBezTo>
                <a:cubicBezTo>
                  <a:pt x="3355554" y="5573082"/>
                  <a:pt x="3364982" y="5582256"/>
                  <a:pt x="3352897" y="5604851"/>
                </a:cubicBezTo>
                <a:cubicBezTo>
                  <a:pt x="3357655" y="5611851"/>
                  <a:pt x="3360065" y="5616619"/>
                  <a:pt x="3360918" y="5620215"/>
                </a:cubicBezTo>
                <a:cubicBezTo>
                  <a:pt x="3363482" y="5631010"/>
                  <a:pt x="3352061" y="5631235"/>
                  <a:pt x="3348145" y="5649365"/>
                </a:cubicBezTo>
                <a:cubicBezTo>
                  <a:pt x="3342329" y="5668683"/>
                  <a:pt x="3336842" y="5635583"/>
                  <a:pt x="3334135" y="5654076"/>
                </a:cubicBezTo>
                <a:cubicBezTo>
                  <a:pt x="3338089" y="5673079"/>
                  <a:pt x="3320876" y="5674673"/>
                  <a:pt x="3326011" y="5694285"/>
                </a:cubicBezTo>
                <a:cubicBezTo>
                  <a:pt x="3339441" y="5687377"/>
                  <a:pt x="3320185" y="5735320"/>
                  <a:pt x="3331448" y="5735077"/>
                </a:cubicBezTo>
                <a:cubicBezTo>
                  <a:pt x="3313758" y="5754960"/>
                  <a:pt x="3333086" y="5760823"/>
                  <a:pt x="3326180" y="5784860"/>
                </a:cubicBezTo>
                <a:cubicBezTo>
                  <a:pt x="3319129" y="5796737"/>
                  <a:pt x="3317432" y="5804806"/>
                  <a:pt x="3323175" y="5814629"/>
                </a:cubicBezTo>
                <a:cubicBezTo>
                  <a:pt x="3289103" y="5869565"/>
                  <a:pt x="3319352" y="5845410"/>
                  <a:pt x="3303983" y="5894405"/>
                </a:cubicBezTo>
                <a:lnTo>
                  <a:pt x="3302615" y="5898375"/>
                </a:lnTo>
                <a:lnTo>
                  <a:pt x="3305988" y="5914019"/>
                </a:lnTo>
                <a:cubicBezTo>
                  <a:pt x="3306566" y="5914416"/>
                  <a:pt x="3307142" y="5914813"/>
                  <a:pt x="3307720" y="5915209"/>
                </a:cubicBezTo>
                <a:lnTo>
                  <a:pt x="3288942" y="5962966"/>
                </a:lnTo>
                <a:lnTo>
                  <a:pt x="3289995" y="5969791"/>
                </a:lnTo>
                <a:lnTo>
                  <a:pt x="3273219" y="6000303"/>
                </a:lnTo>
                <a:lnTo>
                  <a:pt x="3266971" y="6016394"/>
                </a:lnTo>
                <a:lnTo>
                  <a:pt x="3258268" y="6034498"/>
                </a:lnTo>
                <a:lnTo>
                  <a:pt x="3262376" y="6046147"/>
                </a:lnTo>
                <a:cubicBezTo>
                  <a:pt x="3269023" y="6073717"/>
                  <a:pt x="3250846" y="6118951"/>
                  <a:pt x="3274161" y="6127097"/>
                </a:cubicBezTo>
                <a:cubicBezTo>
                  <a:pt x="3261055" y="6140796"/>
                  <a:pt x="3284255" y="6151240"/>
                  <a:pt x="3287116" y="6165061"/>
                </a:cubicBezTo>
                <a:cubicBezTo>
                  <a:pt x="3278972" y="6176795"/>
                  <a:pt x="3286959" y="6181809"/>
                  <a:pt x="3289289" y="6191816"/>
                </a:cubicBezTo>
                <a:cubicBezTo>
                  <a:pt x="3284123" y="6196765"/>
                  <a:pt x="3284941" y="6205311"/>
                  <a:pt x="3291517" y="6207797"/>
                </a:cubicBezTo>
                <a:cubicBezTo>
                  <a:pt x="3306003" y="6202672"/>
                  <a:pt x="3300501" y="6232914"/>
                  <a:pt x="3310808" y="6234442"/>
                </a:cubicBezTo>
                <a:cubicBezTo>
                  <a:pt x="3314005" y="6251566"/>
                  <a:pt x="3305763" y="6327405"/>
                  <a:pt x="3322832" y="6339012"/>
                </a:cubicBezTo>
                <a:cubicBezTo>
                  <a:pt x="3332735" y="6373401"/>
                  <a:pt x="3309981" y="6425589"/>
                  <a:pt x="3311360" y="6440393"/>
                </a:cubicBezTo>
                <a:cubicBezTo>
                  <a:pt x="3282540" y="6457108"/>
                  <a:pt x="3365374" y="6523495"/>
                  <a:pt x="3370963" y="6586374"/>
                </a:cubicBezTo>
                <a:cubicBezTo>
                  <a:pt x="3368621" y="6595055"/>
                  <a:pt x="3368943" y="6599590"/>
                  <a:pt x="3375863" y="6601412"/>
                </a:cubicBezTo>
                <a:cubicBezTo>
                  <a:pt x="3380798" y="6617525"/>
                  <a:pt x="3389212" y="6649404"/>
                  <a:pt x="3400578" y="6683057"/>
                </a:cubicBezTo>
                <a:cubicBezTo>
                  <a:pt x="3408645" y="6705148"/>
                  <a:pt x="3410628" y="6805370"/>
                  <a:pt x="3417831" y="6852700"/>
                </a:cubicBezTo>
                <a:lnTo>
                  <a:pt x="341892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58272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screenshot of a number of orders&#10;&#10;AI-generated content may be incorrect.">
            <a:extLst>
              <a:ext uri="{FF2B5EF4-FFF2-40B4-BE49-F238E27FC236}">
                <a16:creationId xmlns:a16="http://schemas.microsoft.com/office/drawing/2014/main" id="{5D05868D-C450-794C-D146-A93C06EE0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" y="1160533"/>
            <a:ext cx="3131128" cy="3400900"/>
          </a:xfrm>
          <a:prstGeom prst="rect">
            <a:avLst/>
          </a:prstGeom>
        </p:spPr>
      </p:pic>
      <p:pic>
        <p:nvPicPr>
          <p:cNvPr id="19" name="Content Placeholder 18" descr="A close-up of a question&#10;&#10;AI-generated content may be incorrect.">
            <a:extLst>
              <a:ext uri="{FF2B5EF4-FFF2-40B4-BE49-F238E27FC236}">
                <a16:creationId xmlns:a16="http://schemas.microsoft.com/office/drawing/2014/main" id="{4787B92C-363F-FB7B-8A48-22E7AD8B8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771" y="1160533"/>
            <a:ext cx="3058011" cy="1819529"/>
          </a:xfrm>
        </p:spPr>
      </p:pic>
      <p:pic>
        <p:nvPicPr>
          <p:cNvPr id="21" name="Picture 20" descr="A yellow and black text on a white sheet&#10;&#10;AI-generated content may be incorrect.">
            <a:extLst>
              <a:ext uri="{FF2B5EF4-FFF2-40B4-BE49-F238E27FC236}">
                <a16:creationId xmlns:a16="http://schemas.microsoft.com/office/drawing/2014/main" id="{FFAB7008-9F16-8579-8594-356113550B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259" y="1051119"/>
            <a:ext cx="2619741" cy="2038635"/>
          </a:xfrm>
          <a:prstGeom prst="rect">
            <a:avLst/>
          </a:prstGeom>
        </p:spPr>
      </p:pic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895E8A-3F9D-18AC-E54D-DF207D8107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782" y="1051119"/>
            <a:ext cx="3324689" cy="3400900"/>
          </a:xfrm>
          <a:prstGeom prst="rect">
            <a:avLst/>
          </a:prstGeom>
        </p:spPr>
      </p:pic>
      <p:pic>
        <p:nvPicPr>
          <p:cNvPr id="25" name="Picture 24" descr="A yellow rectangular object with black text&#10;&#10;AI-generated content may be incorrect.">
            <a:extLst>
              <a:ext uri="{FF2B5EF4-FFF2-40B4-BE49-F238E27FC236}">
                <a16:creationId xmlns:a16="http://schemas.microsoft.com/office/drawing/2014/main" id="{63954E17-D6AC-53F0-B7CC-3E7092B2EB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8302"/>
            <a:ext cx="4496427" cy="2067213"/>
          </a:xfrm>
          <a:prstGeom prst="rect">
            <a:avLst/>
          </a:prstGeom>
        </p:spPr>
      </p:pic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A3757410-04ED-D664-5936-A7259C7718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9018425"/>
              </p:ext>
            </p:extLst>
          </p:nvPr>
        </p:nvGraphicFramePr>
        <p:xfrm>
          <a:off x="6182591" y="4353790"/>
          <a:ext cx="5642264" cy="2351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28" name="Picture 27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4F12EEF7-79EC-BE74-BBE8-C9AD328162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" y="66488"/>
            <a:ext cx="6706536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66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AD5114-EB0E-3453-4ACD-D7C24D97A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1" y="171748"/>
            <a:ext cx="8564170" cy="905001"/>
          </a:xfr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39D477-B1C4-AD75-00ED-124ED35BD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51" y="1191924"/>
            <a:ext cx="5229955" cy="4715533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CD998B-A3E2-AD5C-6F80-3F307243C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266" y="1191924"/>
            <a:ext cx="3018446" cy="2112385"/>
          </a:xfrm>
          <a:prstGeom prst="rect">
            <a:avLst/>
          </a:prstGeom>
        </p:spPr>
      </p:pic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D5BC324-DFEB-1321-78BE-42CC0CECEC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861891"/>
              </p:ext>
            </p:extLst>
          </p:nvPr>
        </p:nvGraphicFramePr>
        <p:xfrm>
          <a:off x="5631884" y="3429000"/>
          <a:ext cx="4876188" cy="2753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04342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4975CF-5761-02D4-D864-A933ECF343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701441"/>
              </p:ext>
            </p:extLst>
          </p:nvPr>
        </p:nvGraphicFramePr>
        <p:xfrm>
          <a:off x="238991" y="1690688"/>
          <a:ext cx="4021282" cy="50530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1282">
                  <a:extLst>
                    <a:ext uri="{9D8B030D-6E8A-4147-A177-3AD203B41FA5}">
                      <a16:colId xmlns:a16="http://schemas.microsoft.com/office/drawing/2014/main" val="2447335021"/>
                    </a:ext>
                  </a:extLst>
                </a:gridCol>
              </a:tblGrid>
              <a:tr h="50530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WITH </a:t>
                      </a:r>
                      <a:r>
                        <a:rPr lang="en-US" sz="1100" u="none" strike="noStrike" dirty="0" err="1">
                          <a:effectLst/>
                        </a:rPr>
                        <a:t>cte</a:t>
                      </a:r>
                      <a:r>
                        <a:rPr lang="en-US" sz="1100" u="none" strike="noStrike" dirty="0">
                          <a:effectLst/>
                        </a:rPr>
                        <a:t> AS (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SELECT </a:t>
                      </a:r>
                      <a:r>
                        <a:rPr lang="en-US" sz="1100" u="none" strike="noStrike" dirty="0" err="1">
                          <a:effectLst/>
                        </a:rPr>
                        <a:t>o.CustomerID</a:t>
                      </a:r>
                      <a:r>
                        <a:rPr lang="en-US" sz="1100" u="none" strike="noStrike" dirty="0">
                          <a:effectLst/>
                        </a:rPr>
                        <a:t>,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    ROUND(SUM(</a:t>
                      </a:r>
                      <a:r>
                        <a:rPr lang="en-US" sz="1100" u="none" strike="noStrike" dirty="0" err="1">
                          <a:effectLst/>
                        </a:rPr>
                        <a:t>od.Total_Price</a:t>
                      </a:r>
                      <a:r>
                        <a:rPr lang="en-US" sz="1100" u="none" strike="noStrike" dirty="0">
                          <a:effectLst/>
                        </a:rPr>
                        <a:t>),2) AS </a:t>
                      </a:r>
                      <a:r>
                        <a:rPr lang="en-US" sz="1100" u="none" strike="noStrike" dirty="0" err="1">
                          <a:effectLst/>
                        </a:rPr>
                        <a:t>total_spending</a:t>
                      </a:r>
                      <a:r>
                        <a:rPr lang="en-US" sz="1100" u="none" strike="noStrike" dirty="0">
                          <a:effectLst/>
                        </a:rPr>
                        <a:t>,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    COUNT(</a:t>
                      </a:r>
                      <a:r>
                        <a:rPr lang="en-US" sz="1100" u="none" strike="noStrike" dirty="0" err="1">
                          <a:effectLst/>
                        </a:rPr>
                        <a:t>o.OrderID</a:t>
                      </a:r>
                      <a:r>
                        <a:rPr lang="en-US" sz="1100" u="none" strike="noStrike" dirty="0">
                          <a:effectLst/>
                        </a:rPr>
                        <a:t>) AS </a:t>
                      </a:r>
                      <a:r>
                        <a:rPr lang="en-US" sz="1100" u="none" strike="noStrike" dirty="0" err="1">
                          <a:effectLst/>
                        </a:rPr>
                        <a:t>order_count</a:t>
                      </a:r>
                      <a:r>
                        <a:rPr lang="en-US" sz="1100" u="none" strike="noStrike" dirty="0">
                          <a:effectLst/>
                        </a:rPr>
                        <a:t>,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    </a:t>
                      </a:r>
                      <a:r>
                        <a:rPr lang="en-US" sz="1100" u="none" strike="noStrike" dirty="0" err="1">
                          <a:effectLst/>
                        </a:rPr>
                        <a:t>cat.CategoryName</a:t>
                      </a:r>
                      <a:r>
                        <a:rPr lang="en-US" sz="1100" u="none" strike="noStrike" dirty="0">
                          <a:effectLst/>
                        </a:rPr>
                        <a:t> AS </a:t>
                      </a:r>
                      <a:r>
                        <a:rPr lang="en-US" sz="1100" u="none" strike="noStrike" dirty="0" err="1">
                          <a:effectLst/>
                        </a:rPr>
                        <a:t>preferred_category</a:t>
                      </a:r>
                      <a:r>
                        <a:rPr lang="en-US" sz="1100" u="none" strike="noStrike" dirty="0">
                          <a:effectLst/>
                        </a:rPr>
                        <a:t>,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    RANK() OVER (PARTITION BY </a:t>
                      </a:r>
                      <a:r>
                        <a:rPr lang="en-US" sz="1100" u="none" strike="noStrike" dirty="0" err="1">
                          <a:effectLst/>
                        </a:rPr>
                        <a:t>o.CustomerID</a:t>
                      </a:r>
                      <a:r>
                        <a:rPr lang="en-US" sz="1100" u="none" strike="noStrike" dirty="0">
                          <a:effectLst/>
                        </a:rPr>
                        <a:t>                                                       ORDER BY SUM(</a:t>
                      </a:r>
                      <a:r>
                        <a:rPr lang="en-US" sz="1100" u="none" strike="noStrike" dirty="0" err="1">
                          <a:effectLst/>
                        </a:rPr>
                        <a:t>od.Total_Price</a:t>
                      </a:r>
                      <a:r>
                        <a:rPr lang="en-US" sz="1100" u="none" strike="noStrike" dirty="0">
                          <a:effectLst/>
                        </a:rPr>
                        <a:t>) DESC) AS ranking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FROM orders o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JOIN </a:t>
                      </a:r>
                      <a:r>
                        <a:rPr lang="en-US" sz="1100" u="none" strike="noStrike" dirty="0" err="1">
                          <a:effectLst/>
                        </a:rPr>
                        <a:t>order_details</a:t>
                      </a:r>
                      <a:r>
                        <a:rPr lang="en-US" sz="1100" u="none" strike="noStrike" dirty="0">
                          <a:effectLst/>
                        </a:rPr>
                        <a:t> od                                                                                                                         ON </a:t>
                      </a:r>
                      <a:r>
                        <a:rPr lang="en-US" sz="1100" u="none" strike="noStrike" dirty="0" err="1">
                          <a:effectLst/>
                        </a:rPr>
                        <a:t>o.OrderID</a:t>
                      </a:r>
                      <a:r>
                        <a:rPr lang="en-US" sz="1100" u="none" strike="noStrike" dirty="0">
                          <a:effectLst/>
                        </a:rPr>
                        <a:t> = </a:t>
                      </a:r>
                      <a:r>
                        <a:rPr lang="en-US" sz="1100" u="none" strike="noStrike" dirty="0" err="1">
                          <a:effectLst/>
                        </a:rPr>
                        <a:t>od.OrderID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JOIN products p                                                                                                                                         ON </a:t>
                      </a:r>
                      <a:r>
                        <a:rPr lang="en-US" sz="1100" u="none" strike="noStrike" dirty="0" err="1">
                          <a:effectLst/>
                        </a:rPr>
                        <a:t>od.ProductID</a:t>
                      </a:r>
                      <a:r>
                        <a:rPr lang="en-US" sz="1100" u="none" strike="noStrike" dirty="0">
                          <a:effectLst/>
                        </a:rPr>
                        <a:t> = </a:t>
                      </a:r>
                      <a:r>
                        <a:rPr lang="en-US" sz="1100" u="none" strike="noStrike" dirty="0" err="1">
                          <a:effectLst/>
                        </a:rPr>
                        <a:t>p.ProductID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JOIN categories cat                                                                                                                                 ON </a:t>
                      </a:r>
                      <a:r>
                        <a:rPr lang="en-US" sz="1100" u="none" strike="noStrike" dirty="0" err="1">
                          <a:effectLst/>
                        </a:rPr>
                        <a:t>p.CategoryID</a:t>
                      </a:r>
                      <a:r>
                        <a:rPr lang="en-US" sz="1100" u="none" strike="noStrike" dirty="0">
                          <a:effectLst/>
                        </a:rPr>
                        <a:t> = </a:t>
                      </a:r>
                      <a:r>
                        <a:rPr lang="en-US" sz="1100" u="none" strike="noStrike" dirty="0" err="1">
                          <a:effectLst/>
                        </a:rPr>
                        <a:t>cat.CategoryID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GROUP BY </a:t>
                      </a:r>
                      <a:r>
                        <a:rPr lang="en-US" sz="1100" u="none" strike="noStrike" dirty="0" err="1">
                          <a:effectLst/>
                        </a:rPr>
                        <a:t>o.CustomerID</a:t>
                      </a:r>
                      <a:r>
                        <a:rPr lang="en-US" sz="1100" u="none" strike="noStrike" dirty="0">
                          <a:effectLst/>
                        </a:rPr>
                        <a:t>, </a:t>
                      </a:r>
                      <a:r>
                        <a:rPr lang="en-US" sz="1100" u="none" strike="noStrike" dirty="0" err="1">
                          <a:effectLst/>
                        </a:rPr>
                        <a:t>cat.CategoryName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SELECT  </a:t>
                      </a:r>
                      <a:r>
                        <a:rPr lang="en-US" sz="1100" u="none" strike="noStrike" dirty="0" err="1">
                          <a:effectLst/>
                        </a:rPr>
                        <a:t>CustomerID,total_spending</a:t>
                      </a:r>
                      <a:r>
                        <a:rPr lang="en-US" sz="1100" u="none" strike="noStrike" dirty="0">
                          <a:effectLst/>
                        </a:rPr>
                        <a:t>,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</a:t>
                      </a:r>
                      <a:r>
                        <a:rPr lang="en-US" sz="1100" u="none" strike="noStrike" dirty="0" err="1">
                          <a:effectLst/>
                        </a:rPr>
                        <a:t>order_count,preferred_category</a:t>
                      </a:r>
                      <a:r>
                        <a:rPr lang="en-US" sz="1100" u="none" strike="noStrike" dirty="0">
                          <a:effectLst/>
                        </a:rPr>
                        <a:t>,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CASE  WHEN </a:t>
                      </a:r>
                      <a:r>
                        <a:rPr lang="en-US" sz="1100" u="none" strike="noStrike" dirty="0" err="1">
                          <a:effectLst/>
                        </a:rPr>
                        <a:t>total_spending</a:t>
                      </a:r>
                      <a:r>
                        <a:rPr lang="en-US" sz="1100" u="none" strike="noStrike" dirty="0">
                          <a:effectLst/>
                        </a:rPr>
                        <a:t> &gt;= 20000 AND </a:t>
                      </a:r>
                      <a:r>
                        <a:rPr lang="en-US" sz="1100" u="none" strike="noStrike" dirty="0" err="1">
                          <a:effectLst/>
                        </a:rPr>
                        <a:t>order_count</a:t>
                      </a:r>
                      <a:r>
                        <a:rPr lang="en-US" sz="1100" u="none" strike="noStrike" dirty="0">
                          <a:effectLst/>
                        </a:rPr>
                        <a:t> &gt;= 10 THEN 'Premium'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    WHEN </a:t>
                      </a:r>
                      <a:r>
                        <a:rPr lang="en-US" sz="1100" u="none" strike="noStrike" dirty="0" err="1">
                          <a:effectLst/>
                        </a:rPr>
                        <a:t>total_spending</a:t>
                      </a:r>
                      <a:r>
                        <a:rPr lang="en-US" sz="1100" u="none" strike="noStrike" dirty="0">
                          <a:effectLst/>
                        </a:rPr>
                        <a:t> &gt;= 20000 AND </a:t>
                      </a:r>
                      <a:r>
                        <a:rPr lang="en-US" sz="1100" u="none" strike="noStrike" dirty="0" err="1">
                          <a:effectLst/>
                        </a:rPr>
                        <a:t>order_count</a:t>
                      </a:r>
                      <a:r>
                        <a:rPr lang="en-US" sz="1100" u="none" strike="noStrike" dirty="0">
                          <a:effectLst/>
                        </a:rPr>
                        <a:t> &lt; 10       THEN 'Occasional Big Buyers'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    WHEN </a:t>
                      </a:r>
                      <a:r>
                        <a:rPr lang="en-US" sz="1100" u="none" strike="noStrike" dirty="0" err="1">
                          <a:effectLst/>
                        </a:rPr>
                        <a:t>total_spending</a:t>
                      </a:r>
                      <a:r>
                        <a:rPr lang="en-US" sz="1100" u="none" strike="noStrike" dirty="0">
                          <a:effectLst/>
                        </a:rPr>
                        <a:t> &lt; 20000 AND </a:t>
                      </a:r>
                      <a:r>
                        <a:rPr lang="en-US" sz="1100" u="none" strike="noStrike" dirty="0" err="1">
                          <a:effectLst/>
                        </a:rPr>
                        <a:t>order_count</a:t>
                      </a:r>
                      <a:r>
                        <a:rPr lang="en-US" sz="1100" u="none" strike="noStrike" dirty="0">
                          <a:effectLst/>
                        </a:rPr>
                        <a:t> &gt;= 10       THEN 'Budget Frequent Buyers'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    ELSE 'Low-Value'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    END AS Cluster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FROM </a:t>
                      </a:r>
                      <a:r>
                        <a:rPr lang="en-US" sz="1100" u="none" strike="noStrike" dirty="0" err="1">
                          <a:effectLst/>
                        </a:rPr>
                        <a:t>cte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WHERE ranking = 1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ORDER BY </a:t>
                      </a:r>
                      <a:r>
                        <a:rPr lang="en-US" sz="1100" u="none" strike="noStrike" dirty="0" err="1">
                          <a:effectLst/>
                        </a:rPr>
                        <a:t>total_spending</a:t>
                      </a:r>
                      <a:r>
                        <a:rPr lang="en-US" sz="1100" u="none" strike="noStrike" dirty="0">
                          <a:effectLst/>
                        </a:rPr>
                        <a:t> DESC;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6" marR="6466" marT="6466" marB="0" anchor="ctr"/>
                </a:tc>
                <a:extLst>
                  <a:ext uri="{0D108BD9-81ED-4DB2-BD59-A6C34878D82A}">
                    <a16:rowId xmlns:a16="http://schemas.microsoft.com/office/drawing/2014/main" val="138333722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84E4293-09E0-5D83-9685-1E8CC77D9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91" y="79890"/>
            <a:ext cx="10145541" cy="819264"/>
          </a:xfrm>
          <a:prstGeom prst="rect">
            <a:avLst/>
          </a:prstGeom>
        </p:spPr>
      </p:pic>
      <p:pic>
        <p:nvPicPr>
          <p:cNvPr id="8" name="Picture 7" descr="A screenshot of a chart&#10;&#10;AI-generated content may be incorrect.">
            <a:extLst>
              <a:ext uri="{FF2B5EF4-FFF2-40B4-BE49-F238E27FC236}">
                <a16:creationId xmlns:a16="http://schemas.microsoft.com/office/drawing/2014/main" id="{F8934E79-5BC2-2AB6-212D-C7A5D8557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536" y="899154"/>
            <a:ext cx="4334480" cy="2953162"/>
          </a:xfrm>
          <a:prstGeom prst="rect">
            <a:avLst/>
          </a:prstGeom>
        </p:spPr>
      </p:pic>
      <p:pic>
        <p:nvPicPr>
          <p:cNvPr id="10" name="Picture 9" descr="A close-up of a sign&#10;&#10;AI-generated content may be incorrect.">
            <a:extLst>
              <a:ext uri="{FF2B5EF4-FFF2-40B4-BE49-F238E27FC236}">
                <a16:creationId xmlns:a16="http://schemas.microsoft.com/office/drawing/2014/main" id="{4D45C4C4-B92F-A47B-505A-9A55C72D7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91" y="875763"/>
            <a:ext cx="6020640" cy="838317"/>
          </a:xfrm>
          <a:prstGeom prst="rect">
            <a:avLst/>
          </a:prstGeom>
        </p:spPr>
      </p:pic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378CA99-4E5D-A497-32DD-3C23F9272E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6062323"/>
              </p:ext>
            </p:extLst>
          </p:nvPr>
        </p:nvGraphicFramePr>
        <p:xfrm>
          <a:off x="5749595" y="3889847"/>
          <a:ext cx="6203414" cy="2853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65432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FB080B-1E80-A455-5779-843B3D324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4144058"/>
              </p:ext>
            </p:extLst>
          </p:nvPr>
        </p:nvGraphicFramePr>
        <p:xfrm>
          <a:off x="4841825" y="4093777"/>
          <a:ext cx="4911436" cy="261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CAF7B9D1-E10F-B883-5E25-F57BF02991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9" y="0"/>
            <a:ext cx="7954485" cy="1057423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11C3C4-5D61-82B6-F9F0-9D864FE0B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9" y="1057423"/>
            <a:ext cx="4648849" cy="5655104"/>
          </a:xfrm>
          <a:prstGeom prst="rect">
            <a:avLst/>
          </a:prstGeom>
        </p:spPr>
      </p:pic>
      <p:pic>
        <p:nvPicPr>
          <p:cNvPr id="10" name="Picture 9" descr="A screenshot of a chart&#10;&#10;AI-generated content may be incorrect.">
            <a:extLst>
              <a:ext uri="{FF2B5EF4-FFF2-40B4-BE49-F238E27FC236}">
                <a16:creationId xmlns:a16="http://schemas.microsoft.com/office/drawing/2014/main" id="{3A46330D-2E66-766E-5F0A-250E9287B5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680" y="1161091"/>
            <a:ext cx="4220275" cy="293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225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6AE8B8-1580-53C2-B7DF-E048DBDBA3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0841726"/>
              </p:ext>
            </p:extLst>
          </p:nvPr>
        </p:nvGraphicFramePr>
        <p:xfrm>
          <a:off x="259774" y="1236518"/>
          <a:ext cx="3771900" cy="54914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1900">
                  <a:extLst>
                    <a:ext uri="{9D8B030D-6E8A-4147-A177-3AD203B41FA5}">
                      <a16:colId xmlns:a16="http://schemas.microsoft.com/office/drawing/2014/main" val="389059896"/>
                    </a:ext>
                  </a:extLst>
                </a:gridCol>
              </a:tblGrid>
              <a:tr h="54900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WITH </a:t>
                      </a:r>
                      <a:r>
                        <a:rPr lang="en-US" sz="1000" u="none" strike="noStrike" dirty="0" err="1">
                          <a:effectLst/>
                        </a:rPr>
                        <a:t>customer_stats</a:t>
                      </a:r>
                      <a:r>
                        <a:rPr lang="en-US" sz="1000" u="none" strike="noStrike" dirty="0">
                          <a:effectLst/>
                        </a:rPr>
                        <a:t> AS (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SELECT </a:t>
                      </a:r>
                      <a:r>
                        <a:rPr lang="en-US" sz="1000" u="none" strike="noStrike" dirty="0" err="1">
                          <a:effectLst/>
                        </a:rPr>
                        <a:t>o.CustomerID</a:t>
                      </a:r>
                      <a:r>
                        <a:rPr lang="en-US" sz="1000" u="none" strike="noStrike" dirty="0">
                          <a:effectLst/>
                        </a:rPr>
                        <a:t>,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    COUNT(DISTINCT </a:t>
                      </a:r>
                      <a:r>
                        <a:rPr lang="en-US" sz="1000" u="none" strike="noStrike" dirty="0" err="1">
                          <a:effectLst/>
                        </a:rPr>
                        <a:t>o.OrderID</a:t>
                      </a:r>
                      <a:r>
                        <a:rPr lang="en-US" sz="1000" u="none" strike="noStrike" dirty="0">
                          <a:effectLst/>
                        </a:rPr>
                        <a:t>) AS </a:t>
                      </a:r>
                      <a:r>
                        <a:rPr lang="en-US" sz="1000" u="none" strike="noStrike" dirty="0" err="1">
                          <a:effectLst/>
                        </a:rPr>
                        <a:t>order_count</a:t>
                      </a:r>
                      <a:r>
                        <a:rPr lang="en-US" sz="1000" u="none" strike="noStrike" dirty="0">
                          <a:effectLst/>
                        </a:rPr>
                        <a:t>,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    SUM(</a:t>
                      </a:r>
                      <a:r>
                        <a:rPr lang="en-US" sz="1000" u="none" strike="noStrike" dirty="0" err="1">
                          <a:effectLst/>
                        </a:rPr>
                        <a:t>od.UnitPrice</a:t>
                      </a:r>
                      <a:r>
                        <a:rPr lang="en-US" sz="1000" u="none" strike="noStrike" dirty="0">
                          <a:effectLst/>
                        </a:rPr>
                        <a:t> * </a:t>
                      </a:r>
                      <a:r>
                        <a:rPr lang="en-US" sz="1000" u="none" strike="noStrike" dirty="0" err="1">
                          <a:effectLst/>
                        </a:rPr>
                        <a:t>od.Quantity</a:t>
                      </a:r>
                      <a:r>
                        <a:rPr lang="en-US" sz="1000" u="none" strike="noStrike" dirty="0">
                          <a:effectLst/>
                        </a:rPr>
                        <a:t>) AS </a:t>
                      </a:r>
                      <a:r>
                        <a:rPr lang="en-US" sz="1000" u="none" strike="noStrike" dirty="0" err="1">
                          <a:effectLst/>
                        </a:rPr>
                        <a:t>total_spending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FROM orders o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JOIN </a:t>
                      </a:r>
                      <a:r>
                        <a:rPr lang="en-US" sz="1000" u="none" strike="noStrike" dirty="0" err="1">
                          <a:effectLst/>
                        </a:rPr>
                        <a:t>order_details</a:t>
                      </a:r>
                      <a:r>
                        <a:rPr lang="en-US" sz="1000" u="none" strike="noStrike" dirty="0">
                          <a:effectLst/>
                        </a:rPr>
                        <a:t> od 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ON </a:t>
                      </a:r>
                      <a:r>
                        <a:rPr lang="en-US" sz="1000" u="none" strike="noStrike" dirty="0" err="1">
                          <a:effectLst/>
                        </a:rPr>
                        <a:t>o.OrderID</a:t>
                      </a:r>
                      <a:r>
                        <a:rPr lang="en-US" sz="1000" u="none" strike="noStrike" dirty="0">
                          <a:effectLst/>
                        </a:rPr>
                        <a:t> = </a:t>
                      </a:r>
                      <a:r>
                        <a:rPr lang="en-US" sz="1000" u="none" strike="noStrike" dirty="0" err="1">
                          <a:effectLst/>
                        </a:rPr>
                        <a:t>od.OrderID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GROUP BY </a:t>
                      </a:r>
                      <a:r>
                        <a:rPr lang="en-US" sz="1000" u="none" strike="noStrike" dirty="0" err="1">
                          <a:effectLst/>
                        </a:rPr>
                        <a:t>o.CustomerID</a:t>
                      </a:r>
                      <a:r>
                        <a:rPr lang="en-US" sz="1000" u="none" strike="noStrike" dirty="0">
                          <a:effectLst/>
                        </a:rPr>
                        <a:t>),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 err="1">
                          <a:effectLst/>
                        </a:rPr>
                        <a:t>customer_segments</a:t>
                      </a:r>
                      <a:r>
                        <a:rPr lang="en-US" sz="1000" u="none" strike="noStrike" dirty="0">
                          <a:effectLst/>
                        </a:rPr>
                        <a:t> AS (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SELECT </a:t>
                      </a:r>
                      <a:r>
                        <a:rPr lang="en-US" sz="1000" u="none" strike="noStrike" dirty="0" err="1">
                          <a:effectLst/>
                        </a:rPr>
                        <a:t>CustomerID</a:t>
                      </a:r>
                      <a:r>
                        <a:rPr lang="en-US" sz="1000" u="none" strike="noStrike" dirty="0">
                          <a:effectLst/>
                        </a:rPr>
                        <a:t>,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    </a:t>
                      </a:r>
                      <a:r>
                        <a:rPr lang="en-US" sz="1000" u="none" strike="noStrike" dirty="0" err="1">
                          <a:effectLst/>
                        </a:rPr>
                        <a:t>total_spending,order_count</a:t>
                      </a:r>
                      <a:r>
                        <a:rPr lang="en-US" sz="1000" u="none" strike="noStrike" dirty="0">
                          <a:effectLst/>
                        </a:rPr>
                        <a:t>,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    CASE WHEN </a:t>
                      </a:r>
                      <a:r>
                        <a:rPr lang="en-US" sz="1000" u="none" strike="noStrike" dirty="0" err="1">
                          <a:effectLst/>
                        </a:rPr>
                        <a:t>total_spending</a:t>
                      </a:r>
                      <a:r>
                        <a:rPr lang="en-US" sz="1000" u="none" strike="noStrike" dirty="0">
                          <a:effectLst/>
                        </a:rPr>
                        <a:t> &gt;= 20000 AND </a:t>
                      </a:r>
                      <a:r>
                        <a:rPr lang="en-US" sz="1000" u="none" strike="noStrike" dirty="0" err="1">
                          <a:effectLst/>
                        </a:rPr>
                        <a:t>order_count</a:t>
                      </a:r>
                      <a:r>
                        <a:rPr lang="en-US" sz="1000" u="none" strike="noStrike" dirty="0">
                          <a:effectLst/>
                        </a:rPr>
                        <a:t> &gt;= 10 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        THEN 'Premium'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        WHEN </a:t>
                      </a:r>
                      <a:r>
                        <a:rPr lang="en-US" sz="1000" u="none" strike="noStrike" dirty="0" err="1">
                          <a:effectLst/>
                        </a:rPr>
                        <a:t>total_spending</a:t>
                      </a:r>
                      <a:r>
                        <a:rPr lang="en-US" sz="1000" u="none" strike="noStrike" dirty="0">
                          <a:effectLst/>
                        </a:rPr>
                        <a:t> BETWEEN 10000 AND 19999 AND </a:t>
                      </a:r>
                      <a:r>
                        <a:rPr lang="en-US" sz="1000" u="none" strike="noStrike" dirty="0" err="1">
                          <a:effectLst/>
                        </a:rPr>
                        <a:t>order_count</a:t>
                      </a:r>
                      <a:r>
                        <a:rPr lang="en-US" sz="1000" u="none" strike="noStrike" dirty="0">
                          <a:effectLst/>
                        </a:rPr>
                        <a:t> BETWEEN 5 AND 9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        THEN 'Occasional Big Buyers'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        WHEN </a:t>
                      </a:r>
                      <a:r>
                        <a:rPr lang="en-US" sz="1000" u="none" strike="noStrike" dirty="0" err="1">
                          <a:effectLst/>
                        </a:rPr>
                        <a:t>total_spending</a:t>
                      </a:r>
                      <a:r>
                        <a:rPr lang="en-US" sz="1000" u="none" strike="noStrike" dirty="0">
                          <a:effectLst/>
                        </a:rPr>
                        <a:t> BETWEEN 5000 AND 9999 AND </a:t>
                      </a:r>
                      <a:r>
                        <a:rPr lang="en-US" sz="1000" u="none" strike="noStrike" dirty="0" err="1">
                          <a:effectLst/>
                        </a:rPr>
                        <a:t>order_count</a:t>
                      </a:r>
                      <a:r>
                        <a:rPr lang="en-US" sz="1000" u="none" strike="noStrike" dirty="0">
                          <a:effectLst/>
                        </a:rPr>
                        <a:t> &gt;= 10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        THEN 'Budget Frequent Buyers'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        ELSE 'Low-Value/Inactive'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    END AS Segment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FROM </a:t>
                      </a:r>
                      <a:r>
                        <a:rPr lang="en-US" sz="1000" u="none" strike="noStrike" dirty="0" err="1">
                          <a:effectLst/>
                        </a:rPr>
                        <a:t>customer_stats</a:t>
                      </a:r>
                      <a:r>
                        <a:rPr lang="en-US" sz="1000" u="none" strike="noStrike" dirty="0">
                          <a:effectLst/>
                        </a:rPr>
                        <a:t>)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SELECT </a:t>
                      </a:r>
                      <a:r>
                        <a:rPr lang="en-US" sz="1000" u="none" strike="noStrike" dirty="0" err="1">
                          <a:effectLst/>
                        </a:rPr>
                        <a:t>cs.Segment</a:t>
                      </a:r>
                      <a:r>
                        <a:rPr lang="en-US" sz="1000" u="none" strike="noStrike" dirty="0">
                          <a:effectLst/>
                        </a:rPr>
                        <a:t>,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COUNT(DISTINCT </a:t>
                      </a:r>
                      <a:r>
                        <a:rPr lang="en-US" sz="1000" u="none" strike="noStrike" dirty="0" err="1">
                          <a:effectLst/>
                        </a:rPr>
                        <a:t>o.OrderID</a:t>
                      </a:r>
                      <a:r>
                        <a:rPr lang="en-US" sz="1000" u="none" strike="noStrike" dirty="0">
                          <a:effectLst/>
                        </a:rPr>
                        <a:t>) AS </a:t>
                      </a:r>
                      <a:r>
                        <a:rPr lang="en-US" sz="1000" u="none" strike="noStrike" dirty="0" err="1">
                          <a:effectLst/>
                        </a:rPr>
                        <a:t>TotalOrders</a:t>
                      </a:r>
                      <a:r>
                        <a:rPr lang="en-US" sz="1000" u="none" strike="noStrike" dirty="0">
                          <a:effectLst/>
                        </a:rPr>
                        <a:t>,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COUNT(DISTINCT </a:t>
                      </a:r>
                      <a:r>
                        <a:rPr lang="en-US" sz="1000" u="none" strike="noStrike" dirty="0" err="1">
                          <a:effectLst/>
                        </a:rPr>
                        <a:t>cs.CustomerID</a:t>
                      </a:r>
                      <a:r>
                        <a:rPr lang="en-US" sz="1000" u="none" strike="noStrike" dirty="0">
                          <a:effectLst/>
                        </a:rPr>
                        <a:t>) AS </a:t>
                      </a:r>
                      <a:r>
                        <a:rPr lang="en-US" sz="1000" u="none" strike="noStrike" dirty="0" err="1">
                          <a:effectLst/>
                        </a:rPr>
                        <a:t>TotalCustomers</a:t>
                      </a:r>
                      <a:r>
                        <a:rPr lang="en-US" sz="1000" u="none" strike="noStrike" dirty="0">
                          <a:effectLst/>
                        </a:rPr>
                        <a:t>,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ROUND(COUNT(DISTINCT </a:t>
                      </a:r>
                      <a:r>
                        <a:rPr lang="en-US" sz="1000" u="none" strike="noStrike" dirty="0" err="1">
                          <a:effectLst/>
                        </a:rPr>
                        <a:t>o.OrderID</a:t>
                      </a:r>
                      <a:r>
                        <a:rPr lang="en-US" sz="1000" u="none" strike="noStrike" dirty="0">
                          <a:effectLst/>
                        </a:rPr>
                        <a:t>) * 1.0 / COUNT(DISTINCT </a:t>
                      </a:r>
                      <a:r>
                        <a:rPr lang="en-US" sz="1000" u="none" strike="noStrike" dirty="0" err="1">
                          <a:effectLst/>
                        </a:rPr>
                        <a:t>cs.CustomerID</a:t>
                      </a:r>
                      <a:r>
                        <a:rPr lang="en-US" sz="1000" u="none" strike="noStrike" dirty="0">
                          <a:effectLst/>
                        </a:rPr>
                        <a:t>), 2) 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AS </a:t>
                      </a:r>
                      <a:r>
                        <a:rPr lang="en-US" sz="1000" u="none" strike="noStrike" dirty="0" err="1">
                          <a:effectLst/>
                        </a:rPr>
                        <a:t>AvgOrdersPerCustomer</a:t>
                      </a:r>
                      <a:r>
                        <a:rPr lang="en-US" sz="1000" u="none" strike="noStrike" dirty="0">
                          <a:effectLst/>
                        </a:rPr>
                        <a:t>,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   ROUND(AVG(</a:t>
                      </a:r>
                      <a:r>
                        <a:rPr lang="en-US" sz="1000" u="none" strike="noStrike" dirty="0" err="1">
                          <a:effectLst/>
                        </a:rPr>
                        <a:t>cs.total_spending</a:t>
                      </a:r>
                      <a:r>
                        <a:rPr lang="en-US" sz="1000" u="none" strike="noStrike" dirty="0">
                          <a:effectLst/>
                        </a:rPr>
                        <a:t>), 2) AS </a:t>
                      </a:r>
                      <a:r>
                        <a:rPr lang="en-US" sz="1000" u="none" strike="noStrike" dirty="0" err="1">
                          <a:effectLst/>
                        </a:rPr>
                        <a:t>AvgSpendingPerCustomer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FROM </a:t>
                      </a:r>
                      <a:r>
                        <a:rPr lang="en-US" sz="1000" u="none" strike="noStrike" dirty="0" err="1">
                          <a:effectLst/>
                        </a:rPr>
                        <a:t>customer_segments</a:t>
                      </a:r>
                      <a:r>
                        <a:rPr lang="en-US" sz="1000" u="none" strike="noStrike" dirty="0">
                          <a:effectLst/>
                        </a:rPr>
                        <a:t> cs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JOIN orders o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 ON </a:t>
                      </a:r>
                      <a:r>
                        <a:rPr lang="en-US" sz="1000" u="none" strike="noStrike" dirty="0" err="1">
                          <a:effectLst/>
                        </a:rPr>
                        <a:t>cs.CustomerID</a:t>
                      </a:r>
                      <a:r>
                        <a:rPr lang="en-US" sz="1000" u="none" strike="noStrike" dirty="0">
                          <a:effectLst/>
                        </a:rPr>
                        <a:t> = </a:t>
                      </a:r>
                      <a:r>
                        <a:rPr lang="en-US" sz="1000" u="none" strike="noStrike" dirty="0" err="1">
                          <a:effectLst/>
                        </a:rPr>
                        <a:t>o.CustomerID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GROUP BY </a:t>
                      </a:r>
                      <a:r>
                        <a:rPr lang="en-US" sz="1000" u="none" strike="noStrike" dirty="0" err="1">
                          <a:effectLst/>
                        </a:rPr>
                        <a:t>cs.Segment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ORDER BY </a:t>
                      </a:r>
                      <a:r>
                        <a:rPr lang="en-US" sz="1000" u="none" strike="noStrike" dirty="0" err="1">
                          <a:effectLst/>
                        </a:rPr>
                        <a:t>AvgOrdersPerCustomer</a:t>
                      </a:r>
                      <a:r>
                        <a:rPr lang="en-US" sz="1000" u="none" strike="noStrike" dirty="0">
                          <a:effectLst/>
                        </a:rPr>
                        <a:t> DESC;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30" marR="5030" marT="5030" marB="0" anchor="ctr"/>
                </a:tc>
                <a:extLst>
                  <a:ext uri="{0D108BD9-81ED-4DB2-BD59-A6C34878D82A}">
                    <a16:rowId xmlns:a16="http://schemas.microsoft.com/office/drawing/2014/main" val="2911408819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E0E714E-14E4-1B1F-D188-A05E706B84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0308216"/>
              </p:ext>
            </p:extLst>
          </p:nvPr>
        </p:nvGraphicFramePr>
        <p:xfrm>
          <a:off x="4380277" y="3851986"/>
          <a:ext cx="6277851" cy="2874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6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EAD2A340-F0AC-2E67-30BF-383E1EBB7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4" y="131464"/>
            <a:ext cx="8916644" cy="1105054"/>
          </a:xfrm>
          <a:prstGeom prst="rect">
            <a:avLst/>
          </a:prstGeom>
        </p:spPr>
      </p:pic>
      <p:pic>
        <p:nvPicPr>
          <p:cNvPr id="9" name="Picture 8" descr="A yellow box with black text&#10;&#10;AI-generated content may be incorrect.">
            <a:extLst>
              <a:ext uri="{FF2B5EF4-FFF2-40B4-BE49-F238E27FC236}">
                <a16:creationId xmlns:a16="http://schemas.microsoft.com/office/drawing/2014/main" id="{D9E0D6E7-08E1-A9C8-D16E-E73433BC60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856" y="1236518"/>
            <a:ext cx="6277851" cy="250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34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F8C9C2ED-AC5E-CC81-ADE3-D870E945BA6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15046407"/>
                  </p:ext>
                </p:extLst>
              </p:nvPr>
            </p:nvGraphicFramePr>
            <p:xfrm>
              <a:off x="5185064" y="1039091"/>
              <a:ext cx="6608618" cy="565265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F8C9C2ED-AC5E-CC81-ADE3-D870E945BA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85064" y="1039091"/>
                <a:ext cx="6608618" cy="5652654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CBE3F41-ED76-524D-9178-DCE449282C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0" y="83945"/>
            <a:ext cx="7744906" cy="778500"/>
          </a:xfrm>
          <a:prstGeom prst="rect">
            <a:avLst/>
          </a:prstGeom>
        </p:spPr>
      </p:pic>
      <p:pic>
        <p:nvPicPr>
          <p:cNvPr id="8" name="Picture 7" descr="A blue background with black text&#10;&#10;AI-generated content may be incorrect.">
            <a:extLst>
              <a:ext uri="{FF2B5EF4-FFF2-40B4-BE49-F238E27FC236}">
                <a16:creationId xmlns:a16="http://schemas.microsoft.com/office/drawing/2014/main" id="{B16001AE-8DC1-EB63-8FD4-3B3BDD2749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0" y="862445"/>
            <a:ext cx="3324689" cy="3286584"/>
          </a:xfrm>
          <a:prstGeom prst="rect">
            <a:avLst/>
          </a:prstGeom>
        </p:spPr>
      </p:pic>
      <p:pic>
        <p:nvPicPr>
          <p:cNvPr id="12" name="Picture 11" descr="A yellow and black text&#10;&#10;AI-generated content may be incorrect.">
            <a:extLst>
              <a:ext uri="{FF2B5EF4-FFF2-40B4-BE49-F238E27FC236}">
                <a16:creationId xmlns:a16="http://schemas.microsoft.com/office/drawing/2014/main" id="{92F31C7A-054A-6E4E-5537-D91F9BA0F1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0" y="3896590"/>
            <a:ext cx="5001323" cy="287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71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3AD434-317D-B68F-0D9E-2609646DC7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218077"/>
              </p:ext>
            </p:extLst>
          </p:nvPr>
        </p:nvGraphicFramePr>
        <p:xfrm>
          <a:off x="4459648" y="1176102"/>
          <a:ext cx="6440415" cy="4632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6D889369-B6D6-FC75-DBE8-EAA7D973E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" y="151101"/>
            <a:ext cx="8125959" cy="762106"/>
          </a:xfrm>
          <a:prstGeom prst="rect">
            <a:avLst/>
          </a:prstGeom>
        </p:spPr>
      </p:pic>
      <p:pic>
        <p:nvPicPr>
          <p:cNvPr id="8" name="Picture 7" descr="A blue background with black text&#10;&#10;AI-generated content may be incorrect.">
            <a:extLst>
              <a:ext uri="{FF2B5EF4-FFF2-40B4-BE49-F238E27FC236}">
                <a16:creationId xmlns:a16="http://schemas.microsoft.com/office/drawing/2014/main" id="{F1EEEB09-648D-6112-A668-746218431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" y="1020239"/>
            <a:ext cx="2924583" cy="3362794"/>
          </a:xfrm>
          <a:prstGeom prst="rect">
            <a:avLst/>
          </a:prstGeom>
        </p:spPr>
      </p:pic>
      <p:pic>
        <p:nvPicPr>
          <p:cNvPr id="10" name="Picture 9" descr="A yellow and black text on a white grid&#10;&#10;AI-generated content may be incorrect.">
            <a:extLst>
              <a:ext uri="{FF2B5EF4-FFF2-40B4-BE49-F238E27FC236}">
                <a16:creationId xmlns:a16="http://schemas.microsoft.com/office/drawing/2014/main" id="{D56E00F9-8DBA-F791-F326-A20080BF20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9" y="4490065"/>
            <a:ext cx="4211917" cy="221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172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black text on a pink background&#10;&#10;AI-generated content may be incorrect.">
            <a:extLst>
              <a:ext uri="{FF2B5EF4-FFF2-40B4-BE49-F238E27FC236}">
                <a16:creationId xmlns:a16="http://schemas.microsoft.com/office/drawing/2014/main" id="{DBA64D83-FFD5-9A78-5569-FF2D2CB54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18" y="239737"/>
            <a:ext cx="7421011" cy="685896"/>
          </a:xfrm>
        </p:spPr>
      </p:pic>
      <p:pic>
        <p:nvPicPr>
          <p:cNvPr id="12" name="Picture 11" descr="A blue background with black text&#10;&#10;AI-generated content may be incorrect.">
            <a:extLst>
              <a:ext uri="{FF2B5EF4-FFF2-40B4-BE49-F238E27FC236}">
                <a16:creationId xmlns:a16="http://schemas.microsoft.com/office/drawing/2014/main" id="{039768CA-5BA5-D14C-C589-17294DE51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18" y="1135876"/>
            <a:ext cx="3534268" cy="2819794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990BAE-9926-93B5-A459-364E13498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18" y="3955670"/>
            <a:ext cx="4355468" cy="2819794"/>
          </a:xfrm>
          <a:prstGeom prst="rect">
            <a:avLst/>
          </a:prstGeom>
        </p:spPr>
      </p:pic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1E0AD4D0-ABCD-C4C9-3628-317E26F318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7304926"/>
              </p:ext>
            </p:extLst>
          </p:nvPr>
        </p:nvGraphicFramePr>
        <p:xfrm>
          <a:off x="4727864" y="1598723"/>
          <a:ext cx="7024254" cy="4926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10116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0A6B3B-A4B7-E09C-DEDB-412363979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07" y="176544"/>
            <a:ext cx="9688277" cy="457302"/>
          </a:xfr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7236C94-DDEF-7BD3-8FFC-4A8CFD55A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07" y="1122218"/>
            <a:ext cx="2717466" cy="3626427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AC640B-2F51-E7D0-0C89-C8CD83C610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782" y="1122218"/>
            <a:ext cx="7543800" cy="2993501"/>
          </a:xfrm>
          <a:prstGeom prst="rect">
            <a:avLst/>
          </a:prstGeom>
        </p:spPr>
      </p:pic>
      <p:pic>
        <p:nvPicPr>
          <p:cNvPr id="11" name="Picture 10" descr="A yellow and white sheet with black text&#10;&#10;AI-generated content may be incorrect.">
            <a:extLst>
              <a:ext uri="{FF2B5EF4-FFF2-40B4-BE49-F238E27FC236}">
                <a16:creationId xmlns:a16="http://schemas.microsoft.com/office/drawing/2014/main" id="{31322DF8-F8D8-42F4-C619-4EA8A3DEE7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106" y="4197927"/>
            <a:ext cx="3248478" cy="236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64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0FDBBCD1-A4D4-294C-86FF-4C61DCD28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682" y="103774"/>
            <a:ext cx="8135485" cy="895475"/>
          </a:xfrm>
        </p:spPr>
      </p:pic>
      <p:pic>
        <p:nvPicPr>
          <p:cNvPr id="7" name="Picture 6" descr="A blue background with black text&#10;&#10;AI-generated content may be incorrect.">
            <a:extLst>
              <a:ext uri="{FF2B5EF4-FFF2-40B4-BE49-F238E27FC236}">
                <a16:creationId xmlns:a16="http://schemas.microsoft.com/office/drawing/2014/main" id="{9255E39D-6A59-2D8A-C1CF-6B3D29D4A7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12" y="1105961"/>
            <a:ext cx="3450515" cy="3008839"/>
          </a:xfrm>
          <a:prstGeom prst="rect">
            <a:avLst/>
          </a:prstGeom>
        </p:spPr>
      </p:pic>
      <p:pic>
        <p:nvPicPr>
          <p:cNvPr id="9" name="Picture 8" descr="A screenshot of a calendar&#10;&#10;AI-generated content may be incorrect.">
            <a:extLst>
              <a:ext uri="{FF2B5EF4-FFF2-40B4-BE49-F238E27FC236}">
                <a16:creationId xmlns:a16="http://schemas.microsoft.com/office/drawing/2014/main" id="{7A6754D9-CD56-99C5-CD49-532D8350A7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12" y="3938156"/>
            <a:ext cx="4296375" cy="2816070"/>
          </a:xfrm>
          <a:prstGeom prst="rect">
            <a:avLst/>
          </a:prstGeom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689DD7D-C4A7-CF48-D95F-C6E191FC97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2270259"/>
              </p:ext>
            </p:extLst>
          </p:nvPr>
        </p:nvGraphicFramePr>
        <p:xfrm>
          <a:off x="4586588" y="1105961"/>
          <a:ext cx="6219958" cy="3206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9870482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0B222893-9974-3533-5753-51885EFB9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01" y="185172"/>
            <a:ext cx="7001852" cy="857370"/>
          </a:xfr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BDCD808-EE89-CBD0-4157-C8C54AFBC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01" y="1153432"/>
            <a:ext cx="4629796" cy="5611008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6B3102-8E50-FBD3-6729-68D3AEF39D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213" y="1097987"/>
            <a:ext cx="6869460" cy="3134162"/>
          </a:xfrm>
          <a:prstGeom prst="rect">
            <a:avLst/>
          </a:prstGeom>
        </p:spPr>
      </p:pic>
      <p:pic>
        <p:nvPicPr>
          <p:cNvPr id="11" name="Picture 10" descr="A yellow and white text on a sheet of paper&#10;&#10;AI-generated content may be incorrect.">
            <a:extLst>
              <a:ext uri="{FF2B5EF4-FFF2-40B4-BE49-F238E27FC236}">
                <a16:creationId xmlns:a16="http://schemas.microsoft.com/office/drawing/2014/main" id="{B2C92F52-E5B9-A58B-1C12-751A5A63EF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639" y="4232149"/>
            <a:ext cx="4535779" cy="244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9123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C2191C93-6186-2263-CF1F-79FEFCA6D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4" y="145778"/>
            <a:ext cx="7563906" cy="790685"/>
          </a:xfr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4CB16B4-1110-6B78-CD2A-EFA8702556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1213010"/>
              </p:ext>
            </p:extLst>
          </p:nvPr>
        </p:nvGraphicFramePr>
        <p:xfrm>
          <a:off x="4717474" y="1054761"/>
          <a:ext cx="6951518" cy="3037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025CED-6A99-10E1-BF12-11F334336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68" y="1285352"/>
            <a:ext cx="3943900" cy="3743847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684D76-D077-D6D6-B5D9-BFD051090B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474" y="4133535"/>
            <a:ext cx="5087060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4056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BCE816-B3A5-B9F0-DB24-043C76099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003155"/>
              </p:ext>
            </p:extLst>
          </p:nvPr>
        </p:nvGraphicFramePr>
        <p:xfrm>
          <a:off x="4173681" y="1026412"/>
          <a:ext cx="5763491" cy="3233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C63E01C1-0F52-5258-0F40-F1E50E2D7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28" y="76742"/>
            <a:ext cx="8106906" cy="838317"/>
          </a:xfrm>
          <a:prstGeom prst="rect">
            <a:avLst/>
          </a:prstGeom>
        </p:spPr>
      </p:pic>
      <p:pic>
        <p:nvPicPr>
          <p:cNvPr id="8" name="Picture 7" descr="A blue background with black text&#10;&#10;AI-generated content may be incorrect.">
            <a:extLst>
              <a:ext uri="{FF2B5EF4-FFF2-40B4-BE49-F238E27FC236}">
                <a16:creationId xmlns:a16="http://schemas.microsoft.com/office/drawing/2014/main" id="{2980F239-EECB-B906-3F2B-F41E0E7A1C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26" y="1026412"/>
            <a:ext cx="3496163" cy="4972744"/>
          </a:xfrm>
          <a:prstGeom prst="rect">
            <a:avLst/>
          </a:prstGeom>
        </p:spPr>
      </p:pic>
      <p:pic>
        <p:nvPicPr>
          <p:cNvPr id="10" name="Picture 9" descr="A yellow and black text on a white sheet&#10;&#10;AI-generated content may be incorrect.">
            <a:extLst>
              <a:ext uri="{FF2B5EF4-FFF2-40B4-BE49-F238E27FC236}">
                <a16:creationId xmlns:a16="http://schemas.microsoft.com/office/drawing/2014/main" id="{A3942504-961E-DCE3-71E9-ABC8885D83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682" y="4260272"/>
            <a:ext cx="3723410" cy="252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39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F2C369-9724-1F46-12D8-1AB752ABE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586500"/>
              </p:ext>
            </p:extLst>
          </p:nvPr>
        </p:nvGraphicFramePr>
        <p:xfrm>
          <a:off x="563880" y="347733"/>
          <a:ext cx="9326453" cy="1026795"/>
        </p:xfrm>
        <a:graphic>
          <a:graphicData uri="http://schemas.openxmlformats.org/drawingml/2006/table">
            <a:tbl>
              <a:tblPr/>
              <a:tblGrid>
                <a:gridCol w="9326453">
                  <a:extLst>
                    <a:ext uri="{9D8B030D-6E8A-4147-A177-3AD203B41FA5}">
                      <a16:colId xmlns:a16="http://schemas.microsoft.com/office/drawing/2014/main" val="3710785004"/>
                    </a:ext>
                  </a:extLst>
                </a:gridCol>
              </a:tblGrid>
              <a:tr h="704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 How do supplier pricing and categories relate across different regions?</a:t>
                      </a:r>
                      <a:endParaRPr lang="en-US" sz="5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955" marR="20955" marT="209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938057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760AD82-043C-815B-6FE1-0FC74FE493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111466"/>
              </p:ext>
            </p:extLst>
          </p:nvPr>
        </p:nvGraphicFramePr>
        <p:xfrm>
          <a:off x="4194462" y="1631373"/>
          <a:ext cx="6362701" cy="2888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3472E0-B3DA-639E-75B9-655D3B914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719082"/>
              </p:ext>
            </p:extLst>
          </p:nvPr>
        </p:nvGraphicFramePr>
        <p:xfrm>
          <a:off x="4364182" y="4520045"/>
          <a:ext cx="1880754" cy="529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0754">
                  <a:extLst>
                    <a:ext uri="{9D8B030D-6E8A-4147-A177-3AD203B41FA5}">
                      <a16:colId xmlns:a16="http://schemas.microsoft.com/office/drawing/2014/main" val="4171052111"/>
                    </a:ext>
                  </a:extLst>
                </a:gridCol>
              </a:tblGrid>
              <a:tr h="5299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Insight:-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9588507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4218EE0-1ED2-4139-0062-66B8F0414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893496"/>
              </p:ext>
            </p:extLst>
          </p:nvPr>
        </p:nvGraphicFramePr>
        <p:xfrm>
          <a:off x="4364181" y="5122718"/>
          <a:ext cx="5526151" cy="13875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6151">
                  <a:extLst>
                    <a:ext uri="{9D8B030D-6E8A-4147-A177-3AD203B41FA5}">
                      <a16:colId xmlns:a16="http://schemas.microsoft.com/office/drawing/2014/main" val="467376127"/>
                    </a:ext>
                  </a:extLst>
                </a:gridCol>
              </a:tblGrid>
              <a:tr h="13875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Cities like Paris and Frankfurt show the highest average prices, especially in Beverages and Meat/Poultry, while cities such as São Paulo and Osaka have lower-priced categories like Beverages and Seafood, indicating regional variation in supplier pricing.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29469056"/>
                  </a:ext>
                </a:extLst>
              </a:tr>
            </a:tbl>
          </a:graphicData>
        </a:graphic>
      </p:graphicFrame>
      <p:pic>
        <p:nvPicPr>
          <p:cNvPr id="12" name="Picture 11" descr="A blue background with black text&#10;&#10;AI-generated content may be incorrect.">
            <a:extLst>
              <a:ext uri="{FF2B5EF4-FFF2-40B4-BE49-F238E27FC236}">
                <a16:creationId xmlns:a16="http://schemas.microsoft.com/office/drawing/2014/main" id="{F4DE04AE-5F7F-5988-3CE0-286C05A05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44" y="1631373"/>
            <a:ext cx="3267531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99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F940A-A252-687E-A11E-8A5C79712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67" y="1275389"/>
            <a:ext cx="10273849" cy="1886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Power BI -Dashboards</a:t>
            </a:r>
          </a:p>
        </p:txBody>
      </p:sp>
    </p:spTree>
    <p:extLst>
      <p:ext uri="{BB962C8B-B14F-4D97-AF65-F5344CB8AC3E}">
        <p14:creationId xmlns:p14="http://schemas.microsoft.com/office/powerpoint/2010/main" val="177714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chart&#10;&#10;AI-generated content may be incorrect.">
            <a:extLst>
              <a:ext uri="{FF2B5EF4-FFF2-40B4-BE49-F238E27FC236}">
                <a16:creationId xmlns:a16="http://schemas.microsoft.com/office/drawing/2014/main" id="{A8F75986-31AC-46F7-0EAF-5FABF373E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235"/>
            <a:ext cx="12192000" cy="6817529"/>
          </a:xfrm>
        </p:spPr>
      </p:pic>
    </p:spTree>
    <p:extLst>
      <p:ext uri="{BB962C8B-B14F-4D97-AF65-F5344CB8AC3E}">
        <p14:creationId xmlns:p14="http://schemas.microsoft.com/office/powerpoint/2010/main" val="31184424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513FA-F29B-C74A-E8DF-0567F23CC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ustomer engagement dashboard&#10;&#10;AI-generated content may be incorrect.">
            <a:extLst>
              <a:ext uri="{FF2B5EF4-FFF2-40B4-BE49-F238E27FC236}">
                <a16:creationId xmlns:a16="http://schemas.microsoft.com/office/drawing/2014/main" id="{291B7018-6945-FB83-179D-40F251EEB9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19"/>
            <a:ext cx="12192000" cy="6809361"/>
          </a:xfrm>
        </p:spPr>
      </p:pic>
    </p:spTree>
    <p:extLst>
      <p:ext uri="{BB962C8B-B14F-4D97-AF65-F5344CB8AC3E}">
        <p14:creationId xmlns:p14="http://schemas.microsoft.com/office/powerpoint/2010/main" val="13933538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BD964-CFBA-64B0-3616-68E7562F4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data dashboard&#10;&#10;AI-generated content may be incorrect.">
            <a:extLst>
              <a:ext uri="{FF2B5EF4-FFF2-40B4-BE49-F238E27FC236}">
                <a16:creationId xmlns:a16="http://schemas.microsoft.com/office/drawing/2014/main" id="{E5D172CF-F5FB-0D50-6757-F122CFF2F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90"/>
            <a:ext cx="12192000" cy="6841220"/>
          </a:xfrm>
        </p:spPr>
      </p:pic>
    </p:spTree>
    <p:extLst>
      <p:ext uri="{BB962C8B-B14F-4D97-AF65-F5344CB8AC3E}">
        <p14:creationId xmlns:p14="http://schemas.microsoft.com/office/powerpoint/2010/main" val="1887839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2FFA5-43BD-9AC9-3D69-1D5A615B3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data dashboard&#10;&#10;AI-generated content may be incorrect.">
            <a:extLst>
              <a:ext uri="{FF2B5EF4-FFF2-40B4-BE49-F238E27FC236}">
                <a16:creationId xmlns:a16="http://schemas.microsoft.com/office/drawing/2014/main" id="{33181B1F-3030-E719-DF00-A365125BCF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19"/>
            <a:ext cx="12192000" cy="6809361"/>
          </a:xfrm>
        </p:spPr>
      </p:pic>
    </p:spTree>
    <p:extLst>
      <p:ext uri="{BB962C8B-B14F-4D97-AF65-F5344CB8AC3E}">
        <p14:creationId xmlns:p14="http://schemas.microsoft.com/office/powerpoint/2010/main" val="3596393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4CD92-1A98-7445-BB7A-0D5C02624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245" y="1246909"/>
            <a:ext cx="6158679" cy="4693641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3200" b="1"/>
              <a:t>Conclusion</a:t>
            </a:r>
          </a:p>
          <a:p>
            <a:r>
              <a:rPr lang="en-US" sz="2000"/>
              <a:t>EDA in SQL and Excel revealed key trends in </a:t>
            </a:r>
            <a:r>
              <a:rPr lang="en-US" sz="2000" b="1"/>
              <a:t>sales, customer behavior, employee performance, and inventory management</a:t>
            </a:r>
            <a:r>
              <a:rPr lang="en-US" sz="2000"/>
              <a:t>.</a:t>
            </a:r>
          </a:p>
          <a:p>
            <a:r>
              <a:rPr lang="en-US" sz="2000"/>
              <a:t>Power BI dashboards provided </a:t>
            </a:r>
            <a:r>
              <a:rPr lang="en-US" sz="2000" b="1"/>
              <a:t>interactive, easy-to-understand visual insights</a:t>
            </a:r>
            <a:r>
              <a:rPr lang="en-US" sz="2000"/>
              <a:t> for stakeholders.</a:t>
            </a:r>
          </a:p>
          <a:p>
            <a:r>
              <a:rPr lang="en-US" sz="2000"/>
              <a:t>Analysis highlighted </a:t>
            </a:r>
            <a:r>
              <a:rPr lang="en-US" sz="2000" b="1"/>
              <a:t>top-performing products, high-value customers, and areas for inventory and operational optimization</a:t>
            </a:r>
            <a:r>
              <a:rPr lang="en-US" sz="2000"/>
              <a:t>.</a:t>
            </a:r>
          </a:p>
          <a:p>
            <a:r>
              <a:rPr lang="en-US" sz="2000"/>
              <a:t>The project demonstrates the value of </a:t>
            </a:r>
            <a:r>
              <a:rPr lang="en-US" sz="2000" b="1"/>
              <a:t>data-driven decision-making</a:t>
            </a:r>
            <a:r>
              <a:rPr lang="en-US" sz="2000"/>
              <a:t> in improving efficiency, strategy, and overall business performance.</a:t>
            </a:r>
          </a:p>
          <a:p>
            <a:endParaRPr lang="en-IN" sz="1700" dirty="0"/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08AA855F-5BD7-2D2B-E954-5AB3EA309B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3" r="39568" b="2"/>
          <a:stretch>
            <a:fillRect/>
          </a:stretch>
        </p:blipFill>
        <p:spPr>
          <a:xfrm>
            <a:off x="7047513" y="975645"/>
            <a:ext cx="4443447" cy="4443447"/>
          </a:xfrm>
          <a:custGeom>
            <a:avLst/>
            <a:gdLst/>
            <a:ahLst/>
            <a:cxnLst/>
            <a:rect l="l" t="t" r="r" b="b"/>
            <a:pathLst>
              <a:path w="4694238" h="4694238">
                <a:moveTo>
                  <a:pt x="2347119" y="0"/>
                </a:moveTo>
                <a:cubicBezTo>
                  <a:pt x="3643397" y="0"/>
                  <a:pt x="4694238" y="1050841"/>
                  <a:pt x="4694238" y="2347119"/>
                </a:cubicBezTo>
                <a:cubicBezTo>
                  <a:pt x="4694238" y="3643397"/>
                  <a:pt x="3643397" y="4694238"/>
                  <a:pt x="2347119" y="4694238"/>
                </a:cubicBezTo>
                <a:cubicBezTo>
                  <a:pt x="1050841" y="4694238"/>
                  <a:pt x="0" y="3643397"/>
                  <a:pt x="0" y="2347119"/>
                </a:cubicBezTo>
                <a:cubicBezTo>
                  <a:pt x="0" y="1050841"/>
                  <a:pt x="1050841" y="0"/>
                  <a:pt x="234711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593574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 descr="A thank you message with blue text&#10;&#10;AI-generated content may be incorrect.">
            <a:extLst>
              <a:ext uri="{FF2B5EF4-FFF2-40B4-BE49-F238E27FC236}">
                <a16:creationId xmlns:a16="http://schemas.microsoft.com/office/drawing/2014/main" id="{6AA6094D-E21F-CE61-4119-765131B53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1"/>
          <a:stretch>
            <a:fillRect/>
          </a:stretch>
        </p:blipFill>
        <p:spPr>
          <a:xfrm>
            <a:off x="811813" y="457200"/>
            <a:ext cx="1056837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833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393</TotalTime>
  <Words>1226</Words>
  <Application>Microsoft Office PowerPoint</Application>
  <PresentationFormat>Widescreen</PresentationFormat>
  <Paragraphs>87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Aptos</vt:lpstr>
      <vt:lpstr>Aptos Narrow</vt:lpstr>
      <vt:lpstr>Arial</vt:lpstr>
      <vt:lpstr>Century Gothic</vt:lpstr>
      <vt:lpstr>Wingdings 3</vt:lpstr>
      <vt:lpstr>Ion</vt:lpstr>
      <vt:lpstr>Capstone Project – Northwind Traders  Sales Analytics</vt:lpstr>
      <vt:lpstr>PowerPoint Presentation</vt:lpstr>
      <vt:lpstr>Data Dictionary –Key Analysis Areas</vt:lpstr>
      <vt:lpstr>ER Diagram</vt:lpstr>
      <vt:lpstr>🔗 Data Connection – Power BI </vt:lpstr>
      <vt:lpstr>🔗 Data Connection – MySQL </vt:lpstr>
      <vt:lpstr>Power BI – Problem Statements with solutions and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SQL &amp; Excel – Problem Statements with Solutions &amp;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 BI -Dashboards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shwetha thallapelli</dc:creator>
  <cp:lastModifiedBy>saurabh singh</cp:lastModifiedBy>
  <cp:revision>2</cp:revision>
  <dcterms:created xsi:type="dcterms:W3CDTF">2025-10-15T18:04:04Z</dcterms:created>
  <dcterms:modified xsi:type="dcterms:W3CDTF">2026-05-10T13:02:52Z</dcterms:modified>
</cp:coreProperties>
</file>